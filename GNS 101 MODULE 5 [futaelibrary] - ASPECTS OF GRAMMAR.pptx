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58" r:id="rId4"/>
    <p:sldId id="259" r:id="rId5"/>
    <p:sldId id="285" r:id="rId6"/>
    <p:sldId id="261" r:id="rId7"/>
    <p:sldId id="263" r:id="rId8"/>
    <p:sldId id="262" r:id="rId9"/>
    <p:sldId id="260" r:id="rId10"/>
    <p:sldId id="267" r:id="rId11"/>
    <p:sldId id="268" r:id="rId12"/>
    <p:sldId id="269" r:id="rId13"/>
    <p:sldId id="270" r:id="rId14"/>
    <p:sldId id="271" r:id="rId15"/>
    <p:sldId id="272" r:id="rId16"/>
    <p:sldId id="273" r:id="rId17"/>
    <p:sldId id="277" r:id="rId18"/>
    <p:sldId id="276" r:id="rId19"/>
    <p:sldId id="278" r:id="rId20"/>
    <p:sldId id="279" r:id="rId21"/>
    <p:sldId id="280" r:id="rId22"/>
    <p:sldId id="282" r:id="rId23"/>
    <p:sldId id="281" r:id="rId24"/>
    <p:sldId id="283" r:id="rId25"/>
    <p:sldId id="286" r:id="rId26"/>
    <p:sldId id="287" r:id="rId27"/>
    <p:sldId id="288" r:id="rId28"/>
    <p:sldId id="289"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333" autoAdjust="0"/>
  </p:normalViewPr>
  <p:slideViewPr>
    <p:cSldViewPr>
      <p:cViewPr varScale="1">
        <p:scale>
          <a:sx n="62" d="100"/>
          <a:sy n="62" d="100"/>
        </p:scale>
        <p:origin x="-108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A68C69ED-2F71-469A-8AA9-F99EB4A3FFDE}" type="datetimeFigureOut">
              <a:rPr lang="en-US"/>
              <a:pPr>
                <a:defRPr/>
              </a:pPr>
              <a:t>2/16/2026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B385FB20-4D7A-4F2C-8A33-F2E3F341B6AB}" type="slidenum">
              <a:rPr lang="en-GB"/>
              <a:pPr>
                <a:defRPr/>
              </a:pPr>
              <a:t>‹#›</a:t>
            </a:fld>
            <a:endParaRPr lang="en-GB"/>
          </a:p>
        </p:txBody>
      </p:sp>
    </p:spTree>
    <p:extLst>
      <p:ext uri="{BB962C8B-B14F-4D97-AF65-F5344CB8AC3E}">
        <p14:creationId xmlns:p14="http://schemas.microsoft.com/office/powerpoint/2010/main" val="2298496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p:spPr>
      </p:sp>
      <p:sp>
        <p:nvSpPr>
          <p:cNvPr id="245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15ADEDE-3F90-4F5A-ACA0-3418775D3DEE}" type="slidenum">
              <a:rPr lang="en-GB" smtClean="0"/>
              <a:pPr fontAlgn="base">
                <a:spcBef>
                  <a:spcPct val="0"/>
                </a:spcBef>
                <a:spcAft>
                  <a:spcPct val="0"/>
                </a:spcAft>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
        <p:nvSpPr>
          <p:cNvPr id="153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E2BA5A3-F91A-4C00-9479-830EE55E69D7}" type="slidenum">
              <a:rPr lang="en-GB" smtClean="0"/>
              <a:pPr fontAlgn="base">
                <a:spcBef>
                  <a:spcPct val="0"/>
                </a:spcBef>
                <a:spcAft>
                  <a:spcPct val="0"/>
                </a:spcAft>
                <a:defRPr/>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a:t>From the above, we can deduce that a sentence consists of clauses, a clause consists of phrases and a phrase consists of words. But we also know that some of these words can be broken down into smaller bits. </a:t>
            </a:r>
          </a:p>
        </p:txBody>
      </p:sp>
      <p:sp>
        <p:nvSpPr>
          <p:cNvPr id="163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8E5E4CE-8C8C-4925-ADD6-105A2067E0A2}" type="slidenum">
              <a:rPr lang="en-GB" smtClean="0"/>
              <a:pPr fontAlgn="base">
                <a:spcBef>
                  <a:spcPct val="0"/>
                </a:spcBef>
                <a:spcAft>
                  <a:spcPct val="0"/>
                </a:spcAft>
                <a:defRPr/>
              </a:pPr>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dirty="0"/>
              <a:t>You would have found that the words on the same horizontal lines are related. In some cases, (e.g. a-c) we can say the meaning of the word in column I is included in the words in columns II and III. The words in column I cannot be broken down further into smaller units which are meaningful. They are called </a:t>
            </a:r>
            <a:r>
              <a:rPr lang="en-GB" b="1" dirty="0"/>
              <a:t>morphemes, </a:t>
            </a:r>
            <a:r>
              <a:rPr lang="yo-NG" dirty="0"/>
              <a:t>the</a:t>
            </a:r>
            <a:r>
              <a:rPr lang="yo-NG" b="1" dirty="0"/>
              <a:t> </a:t>
            </a:r>
            <a:r>
              <a:rPr lang="en-GB" dirty="0"/>
              <a:t>smallest unit</a:t>
            </a:r>
            <a:r>
              <a:rPr lang="yo-NG" dirty="0"/>
              <a:t>s</a:t>
            </a:r>
            <a:r>
              <a:rPr lang="en-GB" dirty="0"/>
              <a:t> of meaning in a language. A word may contain one or more morphemes.</a:t>
            </a:r>
          </a:p>
        </p:txBody>
      </p:sp>
      <p:sp>
        <p:nvSpPr>
          <p:cNvPr id="174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93464A3-2C44-487D-92A1-4D969F0A1754}" type="slidenum">
              <a:rPr lang="en-GB" smtClean="0"/>
              <a:pPr fontAlgn="base">
                <a:spcBef>
                  <a:spcPct val="0"/>
                </a:spcBef>
                <a:spcAft>
                  <a:spcPct val="0"/>
                </a:spcAft>
                <a:defRPr/>
              </a:pPr>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6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DD878D8-96C3-40A4-B12F-32BDC15CD2EE}" type="slidenum">
              <a:rPr lang="en-GB" smtClean="0"/>
              <a:pPr fontAlgn="base">
                <a:spcBef>
                  <a:spcPct val="0"/>
                </a:spcBef>
                <a:spcAft>
                  <a:spcPct val="0"/>
                </a:spcAft>
                <a:defRPr/>
              </a:pPr>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a:t>A syllable is a unit of spoken language that consists of one or more vowel sounds alone, a syllabic consonant alone, or any of these with one or more consonant sounds while a morpheme is the smallest meaningful element of speech or writing. Mag/ is a syllable but it is not a meaningful element in the word </a:t>
            </a:r>
            <a:r>
              <a:rPr lang="en-GB" u="sng"/>
              <a:t>magnet.</a:t>
            </a:r>
            <a:endParaRPr lang="en-GB"/>
          </a:p>
          <a:p>
            <a:pPr eaLnBrk="1" hangingPunct="1">
              <a:spcBef>
                <a:spcPct val="0"/>
              </a:spcBef>
            </a:pPr>
            <a:endParaRPr lang="en-GB"/>
          </a:p>
        </p:txBody>
      </p:sp>
      <p:sp>
        <p:nvSpPr>
          <p:cNvPr id="1946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A589012-6979-4917-A114-2944A889ACC5}" type="slidenum">
              <a:rPr lang="en-GB" smtClean="0"/>
              <a:pPr fontAlgn="base">
                <a:spcBef>
                  <a:spcPct val="0"/>
                </a:spcBef>
                <a:spcAft>
                  <a:spcPct val="0"/>
                </a:spcAft>
                <a:defRPr/>
              </a:pPr>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
        <p:nvSpPr>
          <p:cNvPr id="2048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816B81-F5AF-4BD6-B1C6-EA537BF4E5C6}" type="slidenum">
              <a:rPr lang="en-GB" smtClean="0"/>
              <a:pPr fontAlgn="base">
                <a:spcBef>
                  <a:spcPct val="0"/>
                </a:spcBef>
                <a:spcAft>
                  <a:spcPct val="0"/>
                </a:spcAft>
                <a:defRPr/>
              </a:pPr>
              <a:t>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
        <p:nvSpPr>
          <p:cNvPr id="2150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13065D2-D5A7-41A1-A1F6-35809F6FA78F}" type="slidenum">
              <a:rPr lang="en-GB" smtClean="0"/>
              <a:pPr fontAlgn="base">
                <a:spcBef>
                  <a:spcPct val="0"/>
                </a:spcBef>
                <a:spcAft>
                  <a:spcPct val="0"/>
                </a:spcAft>
                <a:defRPr/>
              </a:pPr>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a:p>
        </p:txBody>
      </p:sp>
      <p:sp>
        <p:nvSpPr>
          <p:cNvPr id="4" name="Slide Number Placeholder 3"/>
          <p:cNvSpPr>
            <a:spLocks noGrp="1"/>
          </p:cNvSpPr>
          <p:nvPr>
            <p:ph type="sldNum" sz="quarter" idx="5"/>
          </p:nvPr>
        </p:nvSpPr>
        <p:spPr/>
        <p:txBody>
          <a:bodyPr/>
          <a:lstStyle/>
          <a:p>
            <a:pPr>
              <a:defRPr/>
            </a:pPr>
            <a:fld id="{D54B9CFE-9931-4E80-AD88-8F5E369F5295}" type="slidenum">
              <a:rPr lang="en-GB" smtClean="0"/>
              <a:pPr>
                <a:defRPr/>
              </a:pPr>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a:p>
        </p:txBody>
      </p:sp>
      <p:sp>
        <p:nvSpPr>
          <p:cNvPr id="4" name="Slide Number Placeholder 3"/>
          <p:cNvSpPr>
            <a:spLocks noGrp="1"/>
          </p:cNvSpPr>
          <p:nvPr>
            <p:ph type="sldNum" sz="quarter" idx="5"/>
          </p:nvPr>
        </p:nvSpPr>
        <p:spPr/>
        <p:txBody>
          <a:bodyPr/>
          <a:lstStyle/>
          <a:p>
            <a:pPr>
              <a:defRPr/>
            </a:pPr>
            <a:fld id="{51E706EB-47B2-4A91-935B-0DF58E8B02B0}" type="slidenum">
              <a:rPr lang="en-GB" smtClean="0"/>
              <a:pPr>
                <a:defRPr/>
              </a:pPr>
              <a:t>11</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dirty="0"/>
              <a:t>There is a risk of including redundant words when using </a:t>
            </a:r>
            <a:r>
              <a:rPr lang="en-GB" dirty="0" err="1"/>
              <a:t>initialisms</a:t>
            </a:r>
            <a:r>
              <a:rPr lang="en-GB" dirty="0"/>
              <a:t> (alphabetism and acronyms). According to Microsoft Encarta (2008), relatively new and conceivably puzzling acronyms, for example, ATM, </a:t>
            </a:r>
            <a:r>
              <a:rPr lang="en-GB" i="1" dirty="0"/>
              <a:t>GPS</a:t>
            </a:r>
            <a:r>
              <a:rPr lang="en-GB" dirty="0"/>
              <a:t>, and </a:t>
            </a:r>
            <a:r>
              <a:rPr lang="en-GB" i="1" dirty="0"/>
              <a:t>PIN</a:t>
            </a:r>
            <a:r>
              <a:rPr lang="en-GB" dirty="0"/>
              <a:t>, tempt the user to orient the listener or reader with a redundant additional word such as </a:t>
            </a:r>
            <a:r>
              <a:rPr lang="en-GB" i="1" dirty="0"/>
              <a:t>machine</a:t>
            </a:r>
            <a:r>
              <a:rPr lang="en-GB" dirty="0"/>
              <a:t>, </a:t>
            </a:r>
            <a:r>
              <a:rPr lang="en-GB" i="1" dirty="0"/>
              <a:t>system</a:t>
            </a:r>
            <a:r>
              <a:rPr lang="en-GB" dirty="0"/>
              <a:t>, or </a:t>
            </a:r>
            <a:r>
              <a:rPr lang="en-GB" i="1" dirty="0"/>
              <a:t>number</a:t>
            </a:r>
            <a:r>
              <a:rPr lang="en-GB" dirty="0"/>
              <a:t>. However, </a:t>
            </a:r>
            <a:r>
              <a:rPr lang="en-GB" i="1" dirty="0"/>
              <a:t>ATM </a:t>
            </a:r>
            <a:r>
              <a:rPr lang="en-GB" b="1" i="1" dirty="0"/>
              <a:t>machine</a:t>
            </a:r>
            <a:r>
              <a:rPr lang="en-GB" dirty="0"/>
              <a:t> is equivalent to "automated teller machine </a:t>
            </a:r>
            <a:r>
              <a:rPr lang="en-GB" b="1" dirty="0" err="1"/>
              <a:t>machine</a:t>
            </a:r>
            <a:r>
              <a:rPr lang="en-GB" dirty="0"/>
              <a:t>" and </a:t>
            </a:r>
            <a:r>
              <a:rPr lang="en-GB" i="1" dirty="0"/>
              <a:t>PIN </a:t>
            </a:r>
            <a:r>
              <a:rPr lang="en-GB" b="1" i="1" dirty="0"/>
              <a:t>number</a:t>
            </a:r>
            <a:r>
              <a:rPr lang="en-GB" dirty="0"/>
              <a:t> means “personal identification number </a:t>
            </a:r>
            <a:r>
              <a:rPr lang="en-GB" b="1" dirty="0" err="1"/>
              <a:t>number</a:t>
            </a:r>
            <a:r>
              <a:rPr lang="en-GB" dirty="0"/>
              <a:t>.” Whenever it seems likely the acronym alone will not be understood, it may be accompanied by the full form: ATM (automated teller machine) or the full form may be used alone instead. </a:t>
            </a:r>
          </a:p>
          <a:p>
            <a:endParaRPr lang="en-GB" dirty="0"/>
          </a:p>
        </p:txBody>
      </p:sp>
      <p:sp>
        <p:nvSpPr>
          <p:cNvPr id="4" name="Slide Number Placeholder 3"/>
          <p:cNvSpPr>
            <a:spLocks noGrp="1"/>
          </p:cNvSpPr>
          <p:nvPr>
            <p:ph type="sldNum" sz="quarter" idx="5"/>
          </p:nvPr>
        </p:nvSpPr>
        <p:spPr/>
        <p:txBody>
          <a:bodyPr/>
          <a:lstStyle/>
          <a:p>
            <a:pPr>
              <a:defRPr/>
            </a:pPr>
            <a:fld id="{8AF9621C-0C88-4E39-94B3-737B0E8BC8E6}" type="slidenum">
              <a:rPr lang="en-GB" smtClean="0"/>
              <a:pPr>
                <a:defRPr/>
              </a:pPr>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a:t>Students also use many clips and abbreviations like </a:t>
            </a:r>
            <a:r>
              <a:rPr lang="en-GB" b="1"/>
              <a:t>exam</a:t>
            </a:r>
            <a:r>
              <a:rPr lang="en-GB"/>
              <a:t>, </a:t>
            </a:r>
            <a:r>
              <a:rPr lang="en-GB" b="1"/>
              <a:t>lab</a:t>
            </a:r>
            <a:r>
              <a:rPr lang="en-GB"/>
              <a:t>, </a:t>
            </a:r>
            <a:r>
              <a:rPr lang="en-GB" b="1"/>
              <a:t>fan</a:t>
            </a:r>
            <a:r>
              <a:rPr lang="en-GB"/>
              <a:t> and </a:t>
            </a:r>
            <a:r>
              <a:rPr lang="en-GB" b="1"/>
              <a:t>phone</a:t>
            </a:r>
            <a:r>
              <a:rPr lang="en-GB"/>
              <a:t> in their informal interactions. You should however learn the ones that form part of the technical language of your discipline.</a:t>
            </a:r>
          </a:p>
          <a:p>
            <a:endParaRPr lang="en-GB"/>
          </a:p>
        </p:txBody>
      </p:sp>
      <p:sp>
        <p:nvSpPr>
          <p:cNvPr id="4" name="Slide Number Placeholder 3"/>
          <p:cNvSpPr>
            <a:spLocks noGrp="1"/>
          </p:cNvSpPr>
          <p:nvPr>
            <p:ph type="sldNum" sz="quarter" idx="5"/>
          </p:nvPr>
        </p:nvSpPr>
        <p:spPr/>
        <p:txBody>
          <a:bodyPr/>
          <a:lstStyle/>
          <a:p>
            <a:pPr>
              <a:defRPr/>
            </a:pPr>
            <a:fld id="{F6436386-53BD-4E59-A049-D02BCBE85444}" type="slidenum">
              <a:rPr lang="en-GB" smtClean="0"/>
              <a:pPr>
                <a:defRPr/>
              </a:pPr>
              <a:t>13</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a:p>
        </p:txBody>
      </p:sp>
      <p:sp>
        <p:nvSpPr>
          <p:cNvPr id="4" name="Slide Number Placeholder 3"/>
          <p:cNvSpPr>
            <a:spLocks noGrp="1"/>
          </p:cNvSpPr>
          <p:nvPr>
            <p:ph type="sldNum" sz="quarter" idx="5"/>
          </p:nvPr>
        </p:nvSpPr>
        <p:spPr/>
        <p:txBody>
          <a:bodyPr/>
          <a:lstStyle/>
          <a:p>
            <a:pPr>
              <a:defRPr/>
            </a:pPr>
            <a:fld id="{EEC93611-8C72-4E73-9A83-8CC5A57AA08D}" type="slidenum">
              <a:rPr lang="en-GB" smtClean="0"/>
              <a:pPr>
                <a:defRPr/>
              </a:pPr>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a:p>
        </p:txBody>
      </p:sp>
      <p:sp>
        <p:nvSpPr>
          <p:cNvPr id="4" name="Slide Number Placeholder 3"/>
          <p:cNvSpPr>
            <a:spLocks noGrp="1"/>
          </p:cNvSpPr>
          <p:nvPr>
            <p:ph type="sldNum" sz="quarter" idx="5"/>
          </p:nvPr>
        </p:nvSpPr>
        <p:spPr/>
        <p:txBody>
          <a:bodyPr/>
          <a:lstStyle/>
          <a:p>
            <a:pPr>
              <a:defRPr/>
            </a:pPr>
            <a:fld id="{5CB9A9C6-0D32-4D87-8C94-FEC25F144937}" type="slidenum">
              <a:rPr lang="en-GB" smtClean="0"/>
              <a:pPr>
                <a:defRPr/>
              </a:pPr>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a:p>
        </p:txBody>
      </p:sp>
      <p:sp>
        <p:nvSpPr>
          <p:cNvPr id="4" name="Slide Number Placeholder 3"/>
          <p:cNvSpPr>
            <a:spLocks noGrp="1"/>
          </p:cNvSpPr>
          <p:nvPr>
            <p:ph type="sldNum" sz="quarter" idx="5"/>
          </p:nvPr>
        </p:nvSpPr>
        <p:spPr/>
        <p:txBody>
          <a:bodyPr/>
          <a:lstStyle/>
          <a:p>
            <a:pPr>
              <a:defRPr/>
            </a:pPr>
            <a:fld id="{92ACA8CD-105C-4344-9C83-FFC8BE9DD4F0}" type="slidenum">
              <a:rPr lang="en-GB" smtClean="0"/>
              <a:pPr>
                <a:defRPr/>
              </a:pPr>
              <a:t>16</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17</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18</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19</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20</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21</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GB" dirty="0"/>
              <a:t>The</a:t>
            </a:r>
            <a:r>
              <a:rPr lang="en-GB" baseline="0" dirty="0"/>
              <a:t> first four prefixes listed are phonologically conditioned variants of the same </a:t>
            </a:r>
            <a:r>
              <a:rPr lang="en-GB" baseline="0" dirty="0" err="1"/>
              <a:t>negativising</a:t>
            </a:r>
            <a:r>
              <a:rPr lang="en-GB" baseline="0" dirty="0"/>
              <a:t> morpheme. This means their occurrence can be predicted. </a:t>
            </a:r>
            <a:r>
              <a:rPr lang="en-GB" baseline="0" dirty="0" err="1"/>
              <a:t>Im</a:t>
            </a:r>
            <a:r>
              <a:rPr lang="en-GB" baseline="0" dirty="0"/>
              <a:t>- occurs only before words starting with the bilabial consonants p, b, and m; </a:t>
            </a:r>
            <a:r>
              <a:rPr lang="en-GB" baseline="0" dirty="0" err="1"/>
              <a:t>ir</a:t>
            </a:r>
            <a:r>
              <a:rPr lang="en-GB" baseline="0" dirty="0"/>
              <a:t>- before words beginning with ‘r’ and </a:t>
            </a:r>
            <a:r>
              <a:rPr lang="en-GB" baseline="0" dirty="0" err="1"/>
              <a:t>il</a:t>
            </a:r>
            <a:r>
              <a:rPr lang="en-GB" baseline="0" dirty="0"/>
              <a:t>- before words beginning  with ‘l’ . In- occurs in all other environments except those specified above.</a:t>
            </a:r>
            <a:endParaRPr lang="en-GB" dirty="0"/>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22</a:t>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23</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sz="1200" b="1" kern="1200" dirty="0">
                <a:solidFill>
                  <a:schemeClr val="tx1"/>
                </a:solidFill>
                <a:latin typeface="+mn-lt"/>
                <a:ea typeface="+mn-ea"/>
                <a:cs typeface="+mn-cs"/>
              </a:rPr>
              <a:t>Compound nouns</a:t>
            </a:r>
          </a:p>
          <a:p>
            <a:r>
              <a:rPr lang="en-GB" sz="1200" b="1" kern="1200" dirty="0">
                <a:solidFill>
                  <a:schemeClr val="tx1"/>
                </a:solidFill>
                <a:latin typeface="+mn-lt"/>
                <a:ea typeface="+mn-ea"/>
                <a:cs typeface="+mn-cs"/>
              </a:rPr>
              <a:t>Noun – noun combination:	   </a:t>
            </a:r>
            <a:r>
              <a:rPr lang="en-GB" sz="1200" kern="1200" dirty="0">
                <a:solidFill>
                  <a:schemeClr val="tx1"/>
                </a:solidFill>
                <a:latin typeface="+mn-lt"/>
                <a:ea typeface="+mn-ea"/>
                <a:cs typeface="+mn-cs"/>
              </a:rPr>
              <a:t>e.g. airport, sodium chloride</a:t>
            </a:r>
            <a:r>
              <a:rPr lang="yo-NG" sz="1200" kern="1200" dirty="0">
                <a:solidFill>
                  <a:schemeClr val="tx1"/>
                </a:solidFill>
                <a:latin typeface="+mn-lt"/>
                <a:ea typeface="+mn-ea"/>
                <a:cs typeface="+mn-cs"/>
              </a:rPr>
              <a:t>, </a:t>
            </a:r>
            <a:r>
              <a:rPr lang="en-GB" sz="1200" kern="1200" dirty="0">
                <a:solidFill>
                  <a:schemeClr val="tx1"/>
                </a:solidFill>
                <a:latin typeface="+mn-lt"/>
                <a:ea typeface="+mn-ea"/>
                <a:cs typeface="+mn-cs"/>
              </a:rPr>
              <a:t>classroom,    workstation, tapeworm, 			</a:t>
            </a:r>
            <a:r>
              <a:rPr lang="en-GB" sz="1200" kern="1200" baseline="0" dirty="0">
                <a:solidFill>
                  <a:schemeClr val="tx1"/>
                </a:solidFill>
                <a:latin typeface="+mn-lt"/>
                <a:ea typeface="+mn-ea"/>
                <a:cs typeface="+mn-cs"/>
              </a:rPr>
              <a:t>         </a:t>
            </a:r>
            <a:r>
              <a:rPr lang="en-GB" sz="1200" kern="1200" dirty="0">
                <a:solidFill>
                  <a:schemeClr val="tx1"/>
                </a:solidFill>
                <a:latin typeface="+mn-lt"/>
                <a:ea typeface="+mn-ea"/>
                <a:cs typeface="+mn-cs"/>
              </a:rPr>
              <a:t>crankshaft, textbook.</a:t>
            </a:r>
          </a:p>
          <a:p>
            <a:r>
              <a:rPr lang="en-GB" sz="1200" b="1" kern="1200" dirty="0">
                <a:solidFill>
                  <a:schemeClr val="tx1"/>
                </a:solidFill>
                <a:latin typeface="+mn-lt"/>
                <a:ea typeface="+mn-ea"/>
                <a:cs typeface="+mn-cs"/>
              </a:rPr>
              <a:t>Verb – noun combination:            </a:t>
            </a:r>
            <a:r>
              <a:rPr lang="en-GB" sz="1200" kern="1200" dirty="0">
                <a:solidFill>
                  <a:schemeClr val="tx1"/>
                </a:solidFill>
                <a:latin typeface="+mn-lt"/>
                <a:ea typeface="+mn-ea"/>
                <a:cs typeface="+mn-cs"/>
              </a:rPr>
              <a:t> 	   e.g. typewriter, carrycot, pickpocket</a:t>
            </a:r>
          </a:p>
          <a:p>
            <a:r>
              <a:rPr lang="en-GB" sz="1200" b="1" kern="1200" dirty="0">
                <a:solidFill>
                  <a:schemeClr val="tx1"/>
                </a:solidFill>
                <a:latin typeface="+mn-lt"/>
                <a:ea typeface="+mn-ea"/>
                <a:cs typeface="+mn-cs"/>
              </a:rPr>
              <a:t>Preposition – noun combination:         </a:t>
            </a:r>
            <a:r>
              <a:rPr lang="en-GB" sz="1200" kern="1200" dirty="0">
                <a:solidFill>
                  <a:schemeClr val="tx1"/>
                </a:solidFill>
                <a:latin typeface="+mn-lt"/>
                <a:ea typeface="+mn-ea"/>
                <a:cs typeface="+mn-cs"/>
              </a:rPr>
              <a:t>e.g. overview, oversight, undergraduate </a:t>
            </a:r>
            <a:r>
              <a:rPr lang="yo-NG" sz="1200" kern="1200" dirty="0">
                <a:solidFill>
                  <a:schemeClr val="tx1"/>
                </a:solidFill>
                <a:latin typeface="+mn-lt"/>
                <a:ea typeface="+mn-ea"/>
                <a:cs typeface="+mn-cs"/>
              </a:rPr>
              <a:t>u</a:t>
            </a:r>
            <a:r>
              <a:rPr lang="en-GB" sz="1200" kern="1200" dirty="0" err="1">
                <a:solidFill>
                  <a:schemeClr val="tx1"/>
                </a:solidFill>
                <a:latin typeface="+mn-lt"/>
                <a:ea typeface="+mn-ea"/>
                <a:cs typeface="+mn-cs"/>
              </a:rPr>
              <a:t>nder</a:t>
            </a:r>
            <a:r>
              <a:rPr lang="en-GB" sz="1200" kern="1200" dirty="0">
                <a:solidFill>
                  <a:schemeClr val="tx1"/>
                </a:solidFill>
                <a:latin typeface="+mn-lt"/>
                <a:ea typeface="+mn-ea"/>
                <a:cs typeface="+mn-cs"/>
              </a:rPr>
              <a:t>-development,             </a:t>
            </a:r>
          </a:p>
          <a:p>
            <a:r>
              <a:rPr lang="en-GB" sz="1200" kern="1200" dirty="0">
                <a:solidFill>
                  <a:schemeClr val="tx1"/>
                </a:solidFill>
                <a:latin typeface="+mn-lt"/>
                <a:ea typeface="+mn-ea"/>
                <a:cs typeface="+mn-cs"/>
              </a:rPr>
              <a:t> </a:t>
            </a:r>
          </a:p>
          <a:p>
            <a:r>
              <a:rPr lang="en-GB" sz="1200" b="1" kern="1200" dirty="0">
                <a:solidFill>
                  <a:schemeClr val="tx1"/>
                </a:solidFill>
                <a:latin typeface="+mn-lt"/>
                <a:ea typeface="+mn-ea"/>
                <a:cs typeface="+mn-cs"/>
              </a:rPr>
              <a:t>Compound adjectives</a:t>
            </a:r>
          </a:p>
          <a:p>
            <a:r>
              <a:rPr lang="en-GB" sz="1200" b="1" kern="1200" dirty="0">
                <a:solidFill>
                  <a:schemeClr val="tx1"/>
                </a:solidFill>
                <a:latin typeface="+mn-lt"/>
                <a:ea typeface="+mn-ea"/>
                <a:cs typeface="+mn-cs"/>
              </a:rPr>
              <a:t>Noun – verb combination: 		</a:t>
            </a:r>
            <a:r>
              <a:rPr lang="en-GB" sz="1200" kern="1200" dirty="0">
                <a:solidFill>
                  <a:schemeClr val="tx1"/>
                </a:solidFill>
                <a:latin typeface="+mn-lt"/>
                <a:ea typeface="+mn-ea"/>
                <a:cs typeface="+mn-cs"/>
              </a:rPr>
              <a:t>e.g. water borne, value-added,  rocket –propelled. </a:t>
            </a:r>
          </a:p>
          <a:p>
            <a:r>
              <a:rPr lang="en-GB" sz="1200" b="1" kern="1200" dirty="0">
                <a:solidFill>
                  <a:schemeClr val="tx1"/>
                </a:solidFill>
                <a:latin typeface="+mn-lt"/>
                <a:ea typeface="+mn-ea"/>
                <a:cs typeface="+mn-cs"/>
              </a:rPr>
              <a:t>Noun – adjective combination: 		</a:t>
            </a:r>
            <a:r>
              <a:rPr lang="en-GB" sz="1200" kern="1200" dirty="0">
                <a:solidFill>
                  <a:schemeClr val="tx1"/>
                </a:solidFill>
                <a:latin typeface="+mn-lt"/>
                <a:ea typeface="+mn-ea"/>
                <a:cs typeface="+mn-cs"/>
              </a:rPr>
              <a:t>e.g. water-</a:t>
            </a:r>
            <a:r>
              <a:rPr lang="en-GB" sz="1200" kern="1200" dirty="0" err="1">
                <a:solidFill>
                  <a:schemeClr val="tx1"/>
                </a:solidFill>
                <a:latin typeface="+mn-lt"/>
                <a:ea typeface="+mn-ea"/>
                <a:cs typeface="+mn-cs"/>
              </a:rPr>
              <a:t>repellant</a:t>
            </a:r>
            <a:r>
              <a:rPr lang="en-GB" sz="1200" kern="1200" dirty="0">
                <a:solidFill>
                  <a:schemeClr val="tx1"/>
                </a:solidFill>
                <a:latin typeface="+mn-lt"/>
                <a:ea typeface="+mn-ea"/>
                <a:cs typeface="+mn-cs"/>
              </a:rPr>
              <a:t>, air – tight, bulletproof </a:t>
            </a:r>
          </a:p>
          <a:p>
            <a:r>
              <a:rPr lang="en-GB" sz="1200" b="1" kern="1200" dirty="0">
                <a:solidFill>
                  <a:schemeClr val="tx1"/>
                </a:solidFill>
                <a:latin typeface="+mn-lt"/>
                <a:ea typeface="+mn-ea"/>
                <a:cs typeface="+mn-cs"/>
              </a:rPr>
              <a:t>Preposition – noun (phrase) combinations</a:t>
            </a:r>
            <a:r>
              <a:rPr lang="en-GB" sz="1200" kern="1200" dirty="0">
                <a:solidFill>
                  <a:schemeClr val="tx1"/>
                </a:solidFill>
                <a:latin typeface="+mn-lt"/>
                <a:ea typeface="+mn-ea"/>
                <a:cs typeface="+mn-cs"/>
              </a:rPr>
              <a:t>: 	e.g.  off-the-record, over- the-counter </a:t>
            </a:r>
          </a:p>
          <a:p>
            <a:r>
              <a:rPr lang="en-GB" sz="1200" b="1" kern="1200" dirty="0">
                <a:solidFill>
                  <a:schemeClr val="tx1"/>
                </a:solidFill>
                <a:latin typeface="+mn-lt"/>
                <a:ea typeface="+mn-ea"/>
                <a:cs typeface="+mn-cs"/>
              </a:rPr>
              <a:t>Preposition – adjective combination:	 </a:t>
            </a:r>
            <a:r>
              <a:rPr lang="en-GB" sz="1200" kern="1200" dirty="0">
                <a:solidFill>
                  <a:schemeClr val="tx1"/>
                </a:solidFill>
                <a:latin typeface="+mn-lt"/>
                <a:ea typeface="+mn-ea"/>
                <a:cs typeface="+mn-cs"/>
              </a:rPr>
              <a:t>e.g. off-white </a:t>
            </a:r>
          </a:p>
          <a:p>
            <a:r>
              <a:rPr lang="en-GB" sz="1200" b="1" kern="1200" dirty="0">
                <a:solidFill>
                  <a:schemeClr val="tx1"/>
                </a:solidFill>
                <a:latin typeface="+mn-lt"/>
                <a:ea typeface="+mn-ea"/>
                <a:cs typeface="+mn-cs"/>
              </a:rPr>
              <a:t>Adjective – noun combination: 		</a:t>
            </a:r>
            <a:r>
              <a:rPr lang="en-GB" sz="1200" kern="1200" dirty="0">
                <a:solidFill>
                  <a:schemeClr val="tx1"/>
                </a:solidFill>
                <a:latin typeface="+mn-lt"/>
                <a:ea typeface="+mn-ea"/>
                <a:cs typeface="+mn-cs"/>
              </a:rPr>
              <a:t>e.g. full-time, long –term .</a:t>
            </a:r>
          </a:p>
          <a:p>
            <a:r>
              <a:rPr lang="en-GB" sz="1200" kern="1200" dirty="0">
                <a:solidFill>
                  <a:schemeClr val="tx1"/>
                </a:solidFill>
                <a:latin typeface="+mn-lt"/>
                <a:ea typeface="+mn-ea"/>
                <a:cs typeface="+mn-cs"/>
              </a:rPr>
              <a:t> </a:t>
            </a:r>
          </a:p>
          <a:p>
            <a:r>
              <a:rPr lang="en-US" sz="1200" b="1" kern="1200" dirty="0">
                <a:solidFill>
                  <a:schemeClr val="tx1"/>
                </a:solidFill>
                <a:latin typeface="+mn-lt"/>
                <a:ea typeface="+mn-ea"/>
                <a:cs typeface="+mn-cs"/>
              </a:rPr>
              <a:t>Compound adverbs </a:t>
            </a:r>
            <a:r>
              <a:rPr lang="en-GB" sz="1200" kern="1200" dirty="0">
                <a:solidFill>
                  <a:schemeClr val="tx1"/>
                </a:solidFill>
                <a:latin typeface="+mn-lt"/>
                <a:ea typeface="+mn-ea"/>
                <a:cs typeface="+mn-cs"/>
              </a:rPr>
              <a:t>:			moreover, however, nonetheless, furthermore, meanwhile </a:t>
            </a:r>
            <a:r>
              <a:rPr lang="en-GB" sz="1200" kern="1200" baseline="0" dirty="0">
                <a:solidFill>
                  <a:schemeClr val="tx1"/>
                </a:solidFill>
                <a:latin typeface="+mn-lt"/>
                <a:ea typeface="+mn-ea"/>
                <a:cs typeface="+mn-cs"/>
              </a:rPr>
              <a:t>          </a:t>
            </a:r>
            <a:r>
              <a:rPr lang="en-GB" sz="1200" b="1" kern="1200" dirty="0">
                <a:solidFill>
                  <a:schemeClr val="tx1"/>
                </a:solidFill>
                <a:latin typeface="+mn-lt"/>
                <a:ea typeface="+mn-ea"/>
                <a:cs typeface="+mn-cs"/>
              </a:rPr>
              <a:t>determiner -  noun combinations </a:t>
            </a:r>
            <a:r>
              <a:rPr lang="en-GB" sz="1200" kern="1200" dirty="0">
                <a:solidFill>
                  <a:schemeClr val="tx1"/>
                </a:solidFill>
                <a:latin typeface="+mn-lt"/>
                <a:ea typeface="+mn-ea"/>
                <a:cs typeface="+mn-cs"/>
              </a:rPr>
              <a:t>or </a:t>
            </a:r>
            <a:r>
              <a:rPr lang="en-GB" sz="1200" kern="1200" dirty="0" err="1">
                <a:solidFill>
                  <a:schemeClr val="tx1"/>
                </a:solidFill>
                <a:latin typeface="+mn-lt"/>
                <a:ea typeface="+mn-ea"/>
                <a:cs typeface="+mn-cs"/>
              </a:rPr>
              <a:t>wh</a:t>
            </a:r>
            <a:r>
              <a:rPr lang="en-GB" sz="1200" kern="1200" dirty="0">
                <a:solidFill>
                  <a:schemeClr val="tx1"/>
                </a:solidFill>
                <a:latin typeface="+mn-lt"/>
                <a:ea typeface="+mn-ea"/>
                <a:cs typeface="+mn-cs"/>
              </a:rPr>
              <a:t>-forms: 	anyhow, somewhere, nowhere, sometimes and anytime.</a:t>
            </a:r>
          </a:p>
          <a:p>
            <a:endParaRPr lang="en-GB" sz="1200" kern="1200" dirty="0">
              <a:solidFill>
                <a:schemeClr val="tx1"/>
              </a:solidFill>
              <a:latin typeface="+mn-lt"/>
              <a:ea typeface="+mn-ea"/>
              <a:cs typeface="+mn-cs"/>
            </a:endParaRPr>
          </a:p>
          <a:p>
            <a:r>
              <a:rPr lang="en-GB" sz="1200" b="1" kern="1200" dirty="0">
                <a:solidFill>
                  <a:schemeClr val="tx1"/>
                </a:solidFill>
                <a:latin typeface="+mn-lt"/>
                <a:ea typeface="+mn-ea"/>
                <a:cs typeface="+mn-cs"/>
              </a:rPr>
              <a:t>Compound verbs </a:t>
            </a:r>
          </a:p>
          <a:p>
            <a:r>
              <a:rPr lang="en-GB" sz="1200" b="1" kern="1200" dirty="0">
                <a:solidFill>
                  <a:schemeClr val="tx1"/>
                </a:solidFill>
                <a:latin typeface="+mn-lt"/>
                <a:ea typeface="+mn-ea"/>
                <a:cs typeface="+mn-cs"/>
              </a:rPr>
              <a:t>Prepositions -  verb combination:</a:t>
            </a:r>
            <a:r>
              <a:rPr lang="en-GB" sz="1200" kern="1200" dirty="0">
                <a:solidFill>
                  <a:schemeClr val="tx1"/>
                </a:solidFill>
                <a:latin typeface="+mn-lt"/>
                <a:ea typeface="+mn-ea"/>
                <a:cs typeface="+mn-cs"/>
              </a:rPr>
              <a:t> 		e.g. outvote, overreact,. oversleep, overwork , undersell, 				       </a:t>
            </a:r>
            <a:r>
              <a:rPr lang="yo-NG" sz="1200" kern="1200" dirty="0">
                <a:solidFill>
                  <a:schemeClr val="tx1"/>
                </a:solidFill>
                <a:latin typeface="+mn-lt"/>
                <a:ea typeface="+mn-ea"/>
                <a:cs typeface="+mn-cs"/>
              </a:rPr>
              <a:t>u</a:t>
            </a:r>
            <a:r>
              <a:rPr lang="en-GB" sz="1200" kern="1200" dirty="0" err="1">
                <a:solidFill>
                  <a:schemeClr val="tx1"/>
                </a:solidFill>
                <a:latin typeface="+mn-lt"/>
                <a:ea typeface="+mn-ea"/>
                <a:cs typeface="+mn-cs"/>
              </a:rPr>
              <a:t>ndervalue</a:t>
            </a:r>
            <a:endParaRPr lang="en-GB" sz="1200" kern="1200" dirty="0">
              <a:solidFill>
                <a:schemeClr val="tx1"/>
              </a:solidFill>
              <a:latin typeface="+mn-lt"/>
              <a:ea typeface="+mn-ea"/>
              <a:cs typeface="+mn-cs"/>
            </a:endParaRPr>
          </a:p>
          <a:p>
            <a:r>
              <a:rPr lang="en-GB" sz="1200" b="1" kern="1200" dirty="0">
                <a:solidFill>
                  <a:schemeClr val="tx1"/>
                </a:solidFill>
                <a:latin typeface="+mn-lt"/>
                <a:ea typeface="+mn-ea"/>
                <a:cs typeface="+mn-cs"/>
              </a:rPr>
              <a:t>Noun- verb combination: 		</a:t>
            </a:r>
            <a:r>
              <a:rPr lang="en-GB" sz="1200" kern="1200" dirty="0">
                <a:solidFill>
                  <a:schemeClr val="tx1"/>
                </a:solidFill>
                <a:latin typeface="+mn-lt"/>
                <a:ea typeface="+mn-ea"/>
                <a:cs typeface="+mn-cs"/>
              </a:rPr>
              <a:t>e.g.  airlift, sunbathe </a:t>
            </a:r>
          </a:p>
          <a:p>
            <a:r>
              <a:rPr lang="yo-NG" sz="1200" b="1" kern="1200" dirty="0">
                <a:solidFill>
                  <a:schemeClr val="tx1"/>
                </a:solidFill>
                <a:latin typeface="+mn-lt"/>
                <a:ea typeface="+mn-ea"/>
                <a:cs typeface="+mn-cs"/>
              </a:rPr>
              <a:t>A</a:t>
            </a:r>
            <a:r>
              <a:rPr lang="en-GB" sz="1200" b="1" kern="1200" dirty="0" err="1">
                <a:solidFill>
                  <a:schemeClr val="tx1"/>
                </a:solidFill>
                <a:latin typeface="+mn-lt"/>
                <a:ea typeface="+mn-ea"/>
                <a:cs typeface="+mn-cs"/>
              </a:rPr>
              <a:t>djective</a:t>
            </a:r>
            <a:r>
              <a:rPr lang="en-GB" sz="1200" b="1" kern="1200" dirty="0">
                <a:solidFill>
                  <a:schemeClr val="tx1"/>
                </a:solidFill>
                <a:latin typeface="+mn-lt"/>
                <a:ea typeface="+mn-ea"/>
                <a:cs typeface="+mn-cs"/>
              </a:rPr>
              <a:t>-verb combination:</a:t>
            </a:r>
            <a:r>
              <a:rPr lang="en-GB" sz="1200" kern="1200" dirty="0">
                <a:solidFill>
                  <a:schemeClr val="tx1"/>
                </a:solidFill>
                <a:latin typeface="+mn-lt"/>
                <a:ea typeface="+mn-ea"/>
                <a:cs typeface="+mn-cs"/>
              </a:rPr>
              <a:t> 		e.g. shortlist, proofread </a:t>
            </a:r>
          </a:p>
          <a:p>
            <a:endParaRPr lang="en-GB" dirty="0"/>
          </a:p>
        </p:txBody>
      </p:sp>
      <p:sp>
        <p:nvSpPr>
          <p:cNvPr id="4" name="Slide Number Placeholder 3"/>
          <p:cNvSpPr>
            <a:spLocks noGrp="1"/>
          </p:cNvSpPr>
          <p:nvPr>
            <p:ph type="sldNum" sz="quarter" idx="10"/>
          </p:nvPr>
        </p:nvSpPr>
        <p:spPr/>
        <p:txBody>
          <a:bodyPr/>
          <a:lstStyle/>
          <a:p>
            <a:pPr>
              <a:defRPr/>
            </a:pPr>
            <a:fld id="{B385FB20-4D7A-4F2C-8A33-F2E3F341B6AB}" type="slidenum">
              <a:rPr lang="en-GB" smtClean="0"/>
              <a:pPr>
                <a:defRPr/>
              </a:pPr>
              <a:t>24</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hemeOverride" Target="../theme/themeOverride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 /><Relationship Id="rId1" Type="http://schemas.openxmlformats.org/officeDocument/2006/relationships/themeOverride" Target="../theme/themeOverride2.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6DD08528-3F12-4AB2-B01D-65EEFDCA1D91}" type="datetimeFigureOut">
              <a:rPr lang="en-US"/>
              <a:pPr>
                <a:defRPr/>
              </a:pPr>
              <a:t>2/16/2026</a:t>
            </a:fld>
            <a:endParaRPr lang="en-GB"/>
          </a:p>
        </p:txBody>
      </p:sp>
      <p:sp>
        <p:nvSpPr>
          <p:cNvPr id="5" name="Footer Placeholder 18"/>
          <p:cNvSpPr>
            <a:spLocks noGrp="1"/>
          </p:cNvSpPr>
          <p:nvPr>
            <p:ph type="ftr" sz="quarter" idx="11"/>
          </p:nvPr>
        </p:nvSpPr>
        <p:spPr/>
        <p:txBody>
          <a:bodyPr/>
          <a:lstStyle>
            <a:lvl1pPr>
              <a:defRPr/>
            </a:lvl1pPr>
          </a:lstStyle>
          <a:p>
            <a:pPr>
              <a:defRPr/>
            </a:pPr>
            <a:endParaRPr lang="en-GB"/>
          </a:p>
        </p:txBody>
      </p:sp>
      <p:sp>
        <p:nvSpPr>
          <p:cNvPr id="6" name="Slide Number Placeholder 26"/>
          <p:cNvSpPr>
            <a:spLocks noGrp="1"/>
          </p:cNvSpPr>
          <p:nvPr>
            <p:ph type="sldNum" sz="quarter" idx="12"/>
          </p:nvPr>
        </p:nvSpPr>
        <p:spPr/>
        <p:txBody>
          <a:bodyPr/>
          <a:lstStyle>
            <a:lvl1pPr>
              <a:defRPr/>
            </a:lvl1pPr>
          </a:lstStyle>
          <a:p>
            <a:pPr>
              <a:defRPr/>
            </a:pPr>
            <a:fld id="{68EAB9A9-AD4F-4E05-9667-D03CA5F2B20B}" type="slidenum">
              <a:rPr lang="en-GB"/>
              <a:pPr>
                <a:defRPr/>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1CC27161-C3C2-4FEB-9419-EE700AC422D7}" type="datetimeFigureOut">
              <a:rPr lang="en-US"/>
              <a:pPr>
                <a:defRPr/>
              </a:pPr>
              <a:t>2/16/2026</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56BC4D8E-2083-4939-B222-3B1A58369B23}"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30E845D-3891-4A31-A5CF-E1E8AB72CBE2}" type="datetimeFigureOut">
              <a:rPr lang="en-US"/>
              <a:pPr>
                <a:defRPr/>
              </a:pPr>
              <a:t>2/16/2026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F07B7E9-6409-461D-AEFE-4F851E2C0326}" type="slidenum">
              <a:rPr lang="en-GB"/>
              <a:pPr>
                <a:defRPr/>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F75F0B92-E1C0-4A0E-AA04-E69EB60E4B14}" type="datetimeFigureOut">
              <a:rPr lang="en-US"/>
              <a:pPr>
                <a:defRPr/>
              </a:pPr>
              <a:t>2/16/2026</a:t>
            </a:fld>
            <a:endParaRPr lang="en-GB"/>
          </a:p>
        </p:txBody>
      </p:sp>
      <p:sp>
        <p:nvSpPr>
          <p:cNvPr id="6" name="Footer Placeholder 21"/>
          <p:cNvSpPr>
            <a:spLocks noGrp="1"/>
          </p:cNvSpPr>
          <p:nvPr>
            <p:ph type="ftr" sz="quarter" idx="11"/>
          </p:nvPr>
        </p:nvSpPr>
        <p:spPr/>
        <p:txBody>
          <a:bodyPr/>
          <a:lstStyle>
            <a:lvl1pPr>
              <a:defRPr/>
            </a:lvl1pPr>
          </a:lstStyle>
          <a:p>
            <a:pPr>
              <a:defRPr/>
            </a:pPr>
            <a:endParaRPr lang="en-GB"/>
          </a:p>
        </p:txBody>
      </p:sp>
      <p:sp>
        <p:nvSpPr>
          <p:cNvPr id="7" name="Slide Number Placeholder 17"/>
          <p:cNvSpPr>
            <a:spLocks noGrp="1"/>
          </p:cNvSpPr>
          <p:nvPr>
            <p:ph type="sldNum" sz="quarter" idx="12"/>
          </p:nvPr>
        </p:nvSpPr>
        <p:spPr/>
        <p:txBody>
          <a:bodyPr/>
          <a:lstStyle>
            <a:lvl1pPr>
              <a:defRPr/>
            </a:lvl1pPr>
          </a:lstStyle>
          <a:p>
            <a:pPr>
              <a:defRPr/>
            </a:pPr>
            <a:fld id="{DFD19CD1-255C-43EC-9EB9-2A93810F7C6B}"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64E566DC-991E-4210-AD9F-DC90B2DC7C46}" type="datetimeFigureOut">
              <a:rPr lang="en-US"/>
              <a:pPr>
                <a:defRPr/>
              </a:pPr>
              <a:t>2/16/2026</a:t>
            </a:fld>
            <a:endParaRPr lang="en-GB"/>
          </a:p>
        </p:txBody>
      </p:sp>
      <p:sp>
        <p:nvSpPr>
          <p:cNvPr id="8" name="Footer Placeholder 21"/>
          <p:cNvSpPr>
            <a:spLocks noGrp="1"/>
          </p:cNvSpPr>
          <p:nvPr>
            <p:ph type="ftr" sz="quarter" idx="11"/>
          </p:nvPr>
        </p:nvSpPr>
        <p:spPr/>
        <p:txBody>
          <a:bodyPr/>
          <a:lstStyle>
            <a:lvl1pPr>
              <a:defRPr/>
            </a:lvl1pPr>
          </a:lstStyle>
          <a:p>
            <a:pPr>
              <a:defRPr/>
            </a:pPr>
            <a:endParaRPr lang="en-GB"/>
          </a:p>
        </p:txBody>
      </p:sp>
      <p:sp>
        <p:nvSpPr>
          <p:cNvPr id="9" name="Slide Number Placeholder 17"/>
          <p:cNvSpPr>
            <a:spLocks noGrp="1"/>
          </p:cNvSpPr>
          <p:nvPr>
            <p:ph type="sldNum" sz="quarter" idx="12"/>
          </p:nvPr>
        </p:nvSpPr>
        <p:spPr/>
        <p:txBody>
          <a:bodyPr/>
          <a:lstStyle>
            <a:lvl1pPr>
              <a:defRPr/>
            </a:lvl1pPr>
          </a:lstStyle>
          <a:p>
            <a:pPr>
              <a:defRPr/>
            </a:pPr>
            <a:fld id="{7834DE08-E73A-4026-B046-454EDB93DE95}"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4AEF3E18-CF27-457E-9EBF-D36E29F5A0AC}" type="datetimeFigureOut">
              <a:rPr lang="en-US"/>
              <a:pPr>
                <a:defRPr/>
              </a:pPr>
              <a:t>2/16/2026</a:t>
            </a:fld>
            <a:endParaRPr lang="en-GB"/>
          </a:p>
        </p:txBody>
      </p:sp>
      <p:sp>
        <p:nvSpPr>
          <p:cNvPr id="4" name="Footer Placeholder 21"/>
          <p:cNvSpPr>
            <a:spLocks noGrp="1"/>
          </p:cNvSpPr>
          <p:nvPr>
            <p:ph type="ftr" sz="quarter" idx="11"/>
          </p:nvPr>
        </p:nvSpPr>
        <p:spPr/>
        <p:txBody>
          <a:bodyPr/>
          <a:lstStyle>
            <a:lvl1pPr>
              <a:defRPr/>
            </a:lvl1pPr>
          </a:lstStyle>
          <a:p>
            <a:pPr>
              <a:defRPr/>
            </a:pPr>
            <a:endParaRPr lang="en-GB"/>
          </a:p>
        </p:txBody>
      </p:sp>
      <p:sp>
        <p:nvSpPr>
          <p:cNvPr id="5" name="Slide Number Placeholder 17"/>
          <p:cNvSpPr>
            <a:spLocks noGrp="1"/>
          </p:cNvSpPr>
          <p:nvPr>
            <p:ph type="sldNum" sz="quarter" idx="12"/>
          </p:nvPr>
        </p:nvSpPr>
        <p:spPr/>
        <p:txBody>
          <a:bodyPr/>
          <a:lstStyle>
            <a:lvl1pPr>
              <a:defRPr/>
            </a:lvl1pPr>
          </a:lstStyle>
          <a:p>
            <a:pPr>
              <a:defRPr/>
            </a:pPr>
            <a:fld id="{85C12E4A-ADC8-49A4-A17B-409CA3ADA4BB}"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BD6E2B0C-8925-42FD-B09A-ED5C7D647812}" type="datetimeFigureOut">
              <a:rPr lang="en-US"/>
              <a:pPr>
                <a:defRPr/>
              </a:pPr>
              <a:t>2/16/2026</a:t>
            </a:fld>
            <a:endParaRPr lang="en-GB"/>
          </a:p>
        </p:txBody>
      </p:sp>
      <p:sp>
        <p:nvSpPr>
          <p:cNvPr id="3" name="Footer Placeholder 21"/>
          <p:cNvSpPr>
            <a:spLocks noGrp="1"/>
          </p:cNvSpPr>
          <p:nvPr>
            <p:ph type="ftr" sz="quarter" idx="11"/>
          </p:nvPr>
        </p:nvSpPr>
        <p:spPr/>
        <p:txBody>
          <a:bodyPr/>
          <a:lstStyle>
            <a:lvl1pPr>
              <a:defRPr/>
            </a:lvl1pPr>
          </a:lstStyle>
          <a:p>
            <a:pPr>
              <a:defRPr/>
            </a:pPr>
            <a:endParaRPr lang="en-GB"/>
          </a:p>
        </p:txBody>
      </p:sp>
      <p:sp>
        <p:nvSpPr>
          <p:cNvPr id="4" name="Slide Number Placeholder 17"/>
          <p:cNvSpPr>
            <a:spLocks noGrp="1"/>
          </p:cNvSpPr>
          <p:nvPr>
            <p:ph type="sldNum" sz="quarter" idx="12"/>
          </p:nvPr>
        </p:nvSpPr>
        <p:spPr/>
        <p:txBody>
          <a:bodyPr/>
          <a:lstStyle>
            <a:lvl1pPr>
              <a:defRPr/>
            </a:lvl1pPr>
          </a:lstStyle>
          <a:p>
            <a:pPr>
              <a:defRPr/>
            </a:pPr>
            <a:fld id="{3A770F80-3BFB-40A9-AAC5-12571CEBE892}"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1C800F50-A5CA-4BD0-B075-AF28A6340FE8}" type="datetimeFigureOut">
              <a:rPr lang="en-US"/>
              <a:pPr>
                <a:defRPr/>
              </a:pPr>
              <a:t>2/16/2026</a:t>
            </a:fld>
            <a:endParaRPr lang="en-GB"/>
          </a:p>
        </p:txBody>
      </p:sp>
      <p:sp>
        <p:nvSpPr>
          <p:cNvPr id="6" name="Footer Placeholder 21"/>
          <p:cNvSpPr>
            <a:spLocks noGrp="1"/>
          </p:cNvSpPr>
          <p:nvPr>
            <p:ph type="ftr" sz="quarter" idx="11"/>
          </p:nvPr>
        </p:nvSpPr>
        <p:spPr/>
        <p:txBody>
          <a:bodyPr/>
          <a:lstStyle>
            <a:lvl1pPr>
              <a:defRPr/>
            </a:lvl1pPr>
          </a:lstStyle>
          <a:p>
            <a:pPr>
              <a:defRPr/>
            </a:pPr>
            <a:endParaRPr lang="en-GB"/>
          </a:p>
        </p:txBody>
      </p:sp>
      <p:sp>
        <p:nvSpPr>
          <p:cNvPr id="7" name="Slide Number Placeholder 17"/>
          <p:cNvSpPr>
            <a:spLocks noGrp="1"/>
          </p:cNvSpPr>
          <p:nvPr>
            <p:ph type="sldNum" sz="quarter" idx="12"/>
          </p:nvPr>
        </p:nvSpPr>
        <p:spPr/>
        <p:txBody>
          <a:bodyPr/>
          <a:lstStyle>
            <a:lvl1pPr>
              <a:defRPr/>
            </a:lvl1pPr>
          </a:lstStyle>
          <a:p>
            <a:pPr>
              <a:defRPr/>
            </a:pPr>
            <a:fld id="{5B274B1C-DBF7-4C3D-A884-B0F14DCB60D3}"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9CC0DC3D-7F24-4E1F-A198-7C14B04F0D97}" type="datetimeFigureOut">
              <a:rPr lang="en-US"/>
              <a:pPr>
                <a:defRPr/>
              </a:pPr>
              <a:t>2/16/2026</a:t>
            </a:fld>
            <a:endParaRPr lang="en-GB"/>
          </a:p>
        </p:txBody>
      </p:sp>
      <p:sp>
        <p:nvSpPr>
          <p:cNvPr id="10" name="Footer Placeholder 5"/>
          <p:cNvSpPr>
            <a:spLocks noGrp="1"/>
          </p:cNvSpPr>
          <p:nvPr>
            <p:ph type="ftr" sz="quarter" idx="11"/>
          </p:nvPr>
        </p:nvSpPr>
        <p:spPr/>
        <p:txBody>
          <a:bodyPr/>
          <a:lstStyle>
            <a:lvl1pPr>
              <a:defRPr/>
            </a:lvl1pPr>
          </a:lstStyle>
          <a:p>
            <a:pPr>
              <a:defRPr/>
            </a:pPr>
            <a:endParaRPr lang="en-GB"/>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511BCBAC-F18E-48BD-B14E-FAC8B79D814A}"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6653B9B3-EBB5-4BDA-B170-0D7B3D53BC50}" type="datetimeFigureOut">
              <a:rPr lang="en-US"/>
              <a:pPr>
                <a:defRPr/>
              </a:pPr>
              <a:t>2/16/2026</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78F00DCD-D53C-4233-9ACE-9514F179D83D}"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77817D3-8FDA-4676-8A38-6BD67C85F6CD}" type="datetimeFigureOut">
              <a:rPr lang="en-US"/>
              <a:pPr>
                <a:defRPr/>
              </a:pPr>
              <a:t>2/16/2026</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B37A4FE2-6E33-4334-A68C-1D29763B0702}"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04DEA5EA-BC3D-4A9B-AFDF-4818AEBB9E25}" type="datetimeFigureOut">
              <a:rPr lang="en-US"/>
              <a:pPr>
                <a:defRPr/>
              </a:pPr>
              <a:t>2/16/2026</a:t>
            </a:fld>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97AB4E88-F529-4182-A1F0-98E170E831C6}" type="slidenum">
              <a:rPr lang="en-GB"/>
              <a:pPr>
                <a:defRPr/>
              </a:pPr>
              <a:t>‹#›</a:t>
            </a:fld>
            <a:endParaRPr lang="en-GB"/>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711" r:id="rId1"/>
    <p:sldLayoutId id="2147483703" r:id="rId2"/>
    <p:sldLayoutId id="2147483712" r:id="rId3"/>
    <p:sldLayoutId id="2147483704" r:id="rId4"/>
    <p:sldLayoutId id="2147483705" r:id="rId5"/>
    <p:sldLayoutId id="2147483706" r:id="rId6"/>
    <p:sldLayoutId id="2147483707" r:id="rId7"/>
    <p:sldLayoutId id="2147483708" r:id="rId8"/>
    <p:sldLayoutId id="2147483713" r:id="rId9"/>
    <p:sldLayoutId id="2147483709" r:id="rId10"/>
    <p:sldLayoutId id="2147483710"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6.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1285860"/>
            <a:ext cx="8305800" cy="2000256"/>
          </a:xfrm>
        </p:spPr>
        <p:txBody>
          <a:bodyPr>
            <a:normAutofit fontScale="90000"/>
          </a:bodyPr>
          <a:lstStyle/>
          <a:p>
            <a:r>
              <a:rPr lang="en-GB" sz="8900" dirty="0"/>
              <a:t>WORD FORMATION</a:t>
            </a:r>
            <a:br>
              <a:rPr lang="en-GB" dirty="0"/>
            </a:b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GB"/>
              <a:t>Outline</a:t>
            </a:r>
          </a:p>
        </p:txBody>
      </p:sp>
      <p:sp>
        <p:nvSpPr>
          <p:cNvPr id="3" name="Content Placeholder 2"/>
          <p:cNvSpPr>
            <a:spLocks noGrp="1"/>
          </p:cNvSpPr>
          <p:nvPr>
            <p:ph idx="1"/>
          </p:nvPr>
        </p:nvSpPr>
        <p:spPr/>
        <p:txBody>
          <a:bodyPr>
            <a:normAutofit lnSpcReduction="10000"/>
          </a:bodyPr>
          <a:lstStyle/>
          <a:p>
            <a:pPr marL="274320" indent="-274320" eaLnBrk="1" fontAlgn="auto" hangingPunct="1">
              <a:spcAft>
                <a:spcPts val="0"/>
              </a:spcAft>
              <a:buClr>
                <a:schemeClr val="accent3"/>
              </a:buClr>
              <a:buFont typeface="Wingdings 2"/>
              <a:buChar char=""/>
              <a:defRPr/>
            </a:pPr>
            <a:r>
              <a:rPr lang="en-GB" dirty="0"/>
              <a:t>Introduction</a:t>
            </a:r>
          </a:p>
          <a:p>
            <a:pPr marL="274320" indent="-274320" eaLnBrk="1" fontAlgn="auto" hangingPunct="1">
              <a:spcAft>
                <a:spcPts val="0"/>
              </a:spcAft>
              <a:buClr>
                <a:schemeClr val="accent3"/>
              </a:buClr>
              <a:buFont typeface="Wingdings 2"/>
              <a:buChar char=""/>
              <a:defRPr/>
            </a:pPr>
            <a:r>
              <a:rPr lang="en-GB" dirty="0"/>
              <a:t>Constituents of Words: </a:t>
            </a:r>
            <a:r>
              <a:rPr lang="en-GB" sz="2800" dirty="0"/>
              <a:t>Syllables or Morphemes</a:t>
            </a:r>
            <a:endParaRPr lang="en-GB" dirty="0"/>
          </a:p>
          <a:p>
            <a:pPr marL="274320" indent="-274320" eaLnBrk="1" fontAlgn="auto" hangingPunct="1">
              <a:spcAft>
                <a:spcPts val="0"/>
              </a:spcAft>
              <a:buClr>
                <a:schemeClr val="accent3"/>
              </a:buClr>
              <a:buFont typeface="Wingdings 2"/>
              <a:buChar char=""/>
              <a:defRPr/>
            </a:pPr>
            <a:r>
              <a:rPr lang="en-GB" dirty="0"/>
              <a:t>Common Methods of Word Formation</a:t>
            </a:r>
          </a:p>
          <a:p>
            <a:pPr marL="640080" lvl="1" indent="-246888" eaLnBrk="1" fontAlgn="auto" hangingPunct="1">
              <a:spcAft>
                <a:spcPts val="0"/>
              </a:spcAft>
              <a:buFont typeface="Wingdings 2"/>
              <a:buChar char=""/>
              <a:defRPr/>
            </a:pPr>
            <a:r>
              <a:rPr lang="en-GB" sz="3200" dirty="0" err="1"/>
              <a:t>translingual</a:t>
            </a:r>
            <a:r>
              <a:rPr lang="en-GB" sz="3200" dirty="0"/>
              <a:t> borrowing</a:t>
            </a:r>
          </a:p>
          <a:p>
            <a:pPr marL="640080" lvl="1" indent="-246888" eaLnBrk="1" fontAlgn="auto" hangingPunct="1">
              <a:spcAft>
                <a:spcPts val="0"/>
              </a:spcAft>
              <a:buFont typeface="Wingdings 2"/>
              <a:buChar char=""/>
              <a:defRPr/>
            </a:pPr>
            <a:r>
              <a:rPr lang="en-GB" sz="3200" dirty="0"/>
              <a:t>alphabetism</a:t>
            </a:r>
          </a:p>
          <a:p>
            <a:pPr marL="640080" lvl="1" indent="-246888" eaLnBrk="1" fontAlgn="auto" hangingPunct="1">
              <a:spcAft>
                <a:spcPts val="0"/>
              </a:spcAft>
              <a:buFont typeface="Wingdings 2"/>
              <a:buChar char=""/>
              <a:defRPr/>
            </a:pPr>
            <a:r>
              <a:rPr lang="en-GB" sz="3200" dirty="0" err="1"/>
              <a:t>acronymy</a:t>
            </a:r>
            <a:r>
              <a:rPr lang="en-GB" sz="3200" dirty="0"/>
              <a:t> </a:t>
            </a:r>
          </a:p>
          <a:p>
            <a:pPr marL="640080" lvl="1" indent="-246888" eaLnBrk="1" fontAlgn="auto" hangingPunct="1">
              <a:spcAft>
                <a:spcPts val="0"/>
              </a:spcAft>
              <a:buFont typeface="Wingdings 2"/>
              <a:buChar char=""/>
              <a:defRPr/>
            </a:pPr>
            <a:r>
              <a:rPr lang="en-GB" sz="3200" dirty="0"/>
              <a:t>affixation</a:t>
            </a:r>
          </a:p>
          <a:p>
            <a:pPr marL="640080" lvl="1" indent="-246888" eaLnBrk="1" fontAlgn="auto" hangingPunct="1">
              <a:spcAft>
                <a:spcPts val="0"/>
              </a:spcAft>
              <a:buFont typeface="Wingdings 2"/>
              <a:buChar char=""/>
              <a:defRPr/>
            </a:pPr>
            <a:r>
              <a:rPr lang="en-GB" sz="3200" dirty="0"/>
              <a:t>compounding</a:t>
            </a:r>
          </a:p>
          <a:p>
            <a:pPr marL="274320" indent="-274320" eaLnBrk="1" fontAlgn="auto" hangingPunct="1">
              <a:spcAft>
                <a:spcPts val="0"/>
              </a:spcAft>
              <a:buClr>
                <a:schemeClr val="accent3"/>
              </a:buClr>
              <a:buFont typeface="Wingdings 2"/>
              <a:buChar char=""/>
              <a:defRPr/>
            </a:pP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GB"/>
              <a:t>Word Constituents</a:t>
            </a:r>
          </a:p>
        </p:txBody>
      </p:sp>
      <p:sp>
        <p:nvSpPr>
          <p:cNvPr id="3" name="Content Placeholder 2"/>
          <p:cNvSpPr>
            <a:spLocks noGrp="1"/>
          </p:cNvSpPr>
          <p:nvPr>
            <p:ph idx="1"/>
          </p:nvPr>
        </p:nvSpPr>
        <p:spPr/>
        <p:txBody>
          <a:bodyPr>
            <a:normAutofit fontScale="92500"/>
          </a:bodyPr>
          <a:lstStyle/>
          <a:p>
            <a:pPr marL="274320" indent="-274320" eaLnBrk="1" fontAlgn="auto" hangingPunct="1">
              <a:spcAft>
                <a:spcPts val="0"/>
              </a:spcAft>
              <a:buClr>
                <a:schemeClr val="accent3"/>
              </a:buClr>
              <a:buFont typeface="Wingdings 2"/>
              <a:buNone/>
              <a:defRPr/>
            </a:pPr>
            <a:r>
              <a:rPr lang="en-GB" dirty="0"/>
              <a:t>	When people speak </a:t>
            </a:r>
            <a:r>
              <a:rPr lang="yo-NG" dirty="0"/>
              <a:t>of </a:t>
            </a:r>
            <a:r>
              <a:rPr lang="en-GB" dirty="0"/>
              <a:t>a language, they </a:t>
            </a:r>
            <a:r>
              <a:rPr lang="yo-NG" dirty="0"/>
              <a:t>might be </a:t>
            </a:r>
            <a:r>
              <a:rPr lang="en-GB" dirty="0"/>
              <a:t>thinking of words and their meanings”. </a:t>
            </a:r>
          </a:p>
          <a:p>
            <a:pPr marL="274320" indent="-274320" eaLnBrk="1" fontAlgn="auto" hangingPunct="1">
              <a:spcAft>
                <a:spcPts val="0"/>
              </a:spcAft>
              <a:buClr>
                <a:schemeClr val="accent3"/>
              </a:buClr>
              <a:buFont typeface="Wingdings 2"/>
              <a:buNone/>
              <a:defRPr/>
            </a:pPr>
            <a:r>
              <a:rPr lang="en-GB" dirty="0"/>
              <a:t>This sentence consists of two clauses:</a:t>
            </a:r>
          </a:p>
          <a:p>
            <a:pPr marL="274320" indent="-274320" eaLnBrk="1" fontAlgn="auto" hangingPunct="1">
              <a:spcAft>
                <a:spcPts val="0"/>
              </a:spcAft>
              <a:buClr>
                <a:schemeClr val="accent3"/>
              </a:buClr>
              <a:buFont typeface="Wingdings 2"/>
              <a:buNone/>
              <a:defRPr/>
            </a:pPr>
            <a:r>
              <a:rPr lang="en-GB" dirty="0"/>
              <a:t>1. </a:t>
            </a:r>
            <a:r>
              <a:rPr lang="en-GB" b="1" dirty="0"/>
              <a:t>When people speak </a:t>
            </a:r>
            <a:r>
              <a:rPr lang="yo-NG" b="1" dirty="0"/>
              <a:t>of </a:t>
            </a:r>
            <a:r>
              <a:rPr lang="en-GB" b="1" dirty="0"/>
              <a:t>a language </a:t>
            </a:r>
            <a:endParaRPr lang="en-GB" dirty="0"/>
          </a:p>
          <a:p>
            <a:pPr marL="274320" indent="-274320" eaLnBrk="1" fontAlgn="auto" hangingPunct="1">
              <a:spcAft>
                <a:spcPts val="0"/>
              </a:spcAft>
              <a:buClr>
                <a:schemeClr val="accent3"/>
              </a:buClr>
              <a:buFont typeface="Wingdings 2"/>
              <a:buNone/>
              <a:defRPr/>
            </a:pPr>
            <a:r>
              <a:rPr lang="en-GB" dirty="0"/>
              <a:t>2. </a:t>
            </a:r>
            <a:r>
              <a:rPr lang="en-GB" b="1" dirty="0"/>
              <a:t>they might be thinking of words and their meanings</a:t>
            </a:r>
            <a:endParaRPr lang="en-GB" dirty="0"/>
          </a:p>
          <a:p>
            <a:pPr marL="274320" indent="-274320" eaLnBrk="1" fontAlgn="auto" hangingPunct="1">
              <a:spcAft>
                <a:spcPts val="0"/>
              </a:spcAft>
              <a:buClr>
                <a:schemeClr val="accent3"/>
              </a:buClr>
              <a:buFont typeface="Wingdings 2"/>
              <a:buNone/>
              <a:defRPr/>
            </a:pPr>
            <a:r>
              <a:rPr lang="en-GB" dirty="0"/>
              <a:t>The second clause can be broken up into phrases as follows:</a:t>
            </a:r>
          </a:p>
          <a:p>
            <a:pPr marL="274320" indent="-274320" eaLnBrk="1" fontAlgn="auto" hangingPunct="1">
              <a:spcAft>
                <a:spcPts val="0"/>
              </a:spcAft>
              <a:buClr>
                <a:schemeClr val="accent3"/>
              </a:buClr>
              <a:buFont typeface="Wingdings 2"/>
              <a:buNone/>
              <a:defRPr/>
            </a:pPr>
            <a:r>
              <a:rPr lang="en-GB" dirty="0"/>
              <a:t>	a.)they 	b.)might be thinking	    c.) of words and their meanings.</a:t>
            </a:r>
          </a:p>
          <a:p>
            <a:pPr marL="274320" indent="-274320" eaLnBrk="1" fontAlgn="auto" hangingPunct="1">
              <a:spcAft>
                <a:spcPts val="0"/>
              </a:spcAft>
              <a:buClr>
                <a:schemeClr val="accent3"/>
              </a:buClr>
              <a:buFont typeface="Wingdings 2"/>
              <a:buNone/>
              <a:defRPr/>
            </a:pPr>
            <a:r>
              <a:rPr lang="en-GB" dirty="0"/>
              <a:t>The last phrase can also be broken down into its constituents  </a:t>
            </a:r>
          </a:p>
          <a:p>
            <a:pPr marL="274320" indent="-274320" eaLnBrk="1" fontAlgn="auto" hangingPunct="1">
              <a:spcAft>
                <a:spcPts val="0"/>
              </a:spcAft>
              <a:buClr>
                <a:schemeClr val="accent3"/>
              </a:buClr>
              <a:buFont typeface="Wingdings 2"/>
              <a:buNone/>
              <a:defRPr/>
            </a:pPr>
            <a:r>
              <a:rPr lang="en-GB" dirty="0"/>
              <a:t>	</a:t>
            </a:r>
            <a:r>
              <a:rPr lang="en-GB" dirty="0" err="1"/>
              <a:t>i</a:t>
            </a:r>
            <a:r>
              <a:rPr lang="en-GB" dirty="0"/>
              <a:t>.)words 	ii.)and	iii.)their		iv.)meanings.</a:t>
            </a:r>
          </a:p>
          <a:p>
            <a:pPr marL="274320" indent="-274320" eaLnBrk="1" fontAlgn="auto" hangingPunct="1">
              <a:spcAft>
                <a:spcPts val="0"/>
              </a:spcAft>
              <a:buClr>
                <a:schemeClr val="accent3"/>
              </a:buClr>
              <a:buFont typeface="Wingdings 2"/>
              <a:buChar char=""/>
              <a:defRPr/>
            </a:pP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GB" dirty="0"/>
              <a:t>Words and their Constituents 1</a:t>
            </a:r>
          </a:p>
        </p:txBody>
      </p:sp>
      <p:sp>
        <p:nvSpPr>
          <p:cNvPr id="8195" name="Content Placeholder 2"/>
          <p:cNvSpPr>
            <a:spLocks noGrp="1"/>
          </p:cNvSpPr>
          <p:nvPr>
            <p:ph idx="1"/>
          </p:nvPr>
        </p:nvSpPr>
        <p:spPr/>
        <p:txBody>
          <a:bodyPr/>
          <a:lstStyle/>
          <a:p>
            <a:pPr eaLnBrk="1" hangingPunct="1">
              <a:buFont typeface="Wingdings 2" pitchFamily="18" charset="2"/>
              <a:buNone/>
            </a:pPr>
            <a:r>
              <a:rPr lang="en-GB" b="1"/>
              <a:t>Example 1</a:t>
            </a:r>
            <a:endParaRPr lang="en-GB"/>
          </a:p>
          <a:p>
            <a:pPr eaLnBrk="1" hangingPunct="1">
              <a:buFont typeface="Wingdings 2" pitchFamily="18" charset="2"/>
              <a:buNone/>
            </a:pPr>
            <a:r>
              <a:rPr lang="en-GB"/>
              <a:t>		I	          II		    III</a:t>
            </a:r>
          </a:p>
          <a:p>
            <a:pPr eaLnBrk="1" hangingPunct="1">
              <a:buFont typeface="Wingdings 2" pitchFamily="18" charset="2"/>
              <a:buNone/>
            </a:pPr>
            <a:r>
              <a:rPr lang="en-GB"/>
              <a:t>a.		teach        teacher	   	teachable</a:t>
            </a:r>
          </a:p>
          <a:p>
            <a:pPr eaLnBrk="1" hangingPunct="1">
              <a:buFont typeface="Wingdings 2" pitchFamily="18" charset="2"/>
              <a:buNone/>
            </a:pPr>
            <a:r>
              <a:rPr lang="en-GB"/>
              <a:t>b.		magnet    magnetize	demagnetization</a:t>
            </a:r>
          </a:p>
          <a:p>
            <a:pPr eaLnBrk="1" hangingPunct="1">
              <a:buFont typeface="Wingdings 2" pitchFamily="18" charset="2"/>
              <a:buNone/>
            </a:pPr>
            <a:r>
              <a:rPr lang="en-GB"/>
              <a:t>c.		liquid        liquefy	   	liquefied</a:t>
            </a:r>
          </a:p>
          <a:p>
            <a:pPr eaLnBrk="1" hangingPunct="1">
              <a:buFont typeface="Wingdings 2" pitchFamily="18" charset="2"/>
              <a:buNone/>
            </a:pPr>
            <a:r>
              <a:rPr lang="en-GB"/>
              <a:t>d.		cool	        cooling	   	coolant</a:t>
            </a:r>
          </a:p>
          <a:p>
            <a:pPr eaLnBrk="1" hangingPunct="1"/>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Words and their Constituents 2</a:t>
            </a:r>
          </a:p>
        </p:txBody>
      </p:sp>
      <p:sp>
        <p:nvSpPr>
          <p:cNvPr id="3" name="Content Placeholder 2"/>
          <p:cNvSpPr>
            <a:spLocks noGrp="1"/>
          </p:cNvSpPr>
          <p:nvPr>
            <p:ph idx="1"/>
          </p:nvPr>
        </p:nvSpPr>
        <p:spPr/>
        <p:txBody>
          <a:bodyPr/>
          <a:lstStyle/>
          <a:p>
            <a:r>
              <a:rPr lang="en-GB" dirty="0"/>
              <a:t>Morphemes are the building blocks of words.</a:t>
            </a:r>
          </a:p>
          <a:p>
            <a:r>
              <a:rPr lang="en-GB" dirty="0"/>
              <a:t>Morphemes are units of meaning; for a part of a word to be identified as a morpheme, it must be meaningful.</a:t>
            </a:r>
          </a:p>
          <a:p>
            <a:r>
              <a:rPr lang="en-GB" b="1" u="sng" dirty="0"/>
              <a:t>Boy</a:t>
            </a:r>
            <a:r>
              <a:rPr lang="en-GB" u="sng" dirty="0"/>
              <a:t> </a:t>
            </a:r>
            <a:r>
              <a:rPr lang="en-GB" dirty="0"/>
              <a:t>(young male human) is a morpheme because it cannot be broken down further into meaningful units. </a:t>
            </a:r>
          </a:p>
          <a:p>
            <a:r>
              <a:rPr lang="en-GB" b="1" dirty="0"/>
              <a:t>Boys</a:t>
            </a:r>
            <a:r>
              <a:rPr lang="en-GB" dirty="0"/>
              <a:t> contains the meaning of </a:t>
            </a:r>
            <a:r>
              <a:rPr lang="en-GB" u="sng" dirty="0"/>
              <a:t>young male human </a:t>
            </a:r>
            <a:r>
              <a:rPr lang="en-GB" dirty="0"/>
              <a:t>and more than one: it has 2 morphemes: </a:t>
            </a:r>
            <a:r>
              <a:rPr lang="en-GB" i="1" dirty="0"/>
              <a:t>boy</a:t>
            </a:r>
            <a:r>
              <a:rPr lang="en-GB" dirty="0"/>
              <a:t> and </a:t>
            </a:r>
            <a:r>
              <a:rPr lang="en-GB" i="1" dirty="0"/>
              <a:t>-s</a:t>
            </a:r>
            <a:r>
              <a:rPr lang="en-GB" dirty="0"/>
              <a:t>.   </a:t>
            </a:r>
          </a:p>
          <a:p>
            <a:r>
              <a:rPr lang="en-GB" b="1" dirty="0"/>
              <a:t>Flexible</a:t>
            </a:r>
            <a:r>
              <a:rPr lang="en-GB" dirty="0"/>
              <a:t> also has 2 morphemes: </a:t>
            </a:r>
            <a:r>
              <a:rPr lang="en-GB" b="1" dirty="0"/>
              <a:t>flex</a:t>
            </a:r>
            <a:r>
              <a:rPr lang="en-GB" dirty="0"/>
              <a:t> meaning </a:t>
            </a:r>
            <a:r>
              <a:rPr lang="en-GB" u="sng" dirty="0"/>
              <a:t>bend</a:t>
            </a:r>
            <a:r>
              <a:rPr lang="en-GB" dirty="0"/>
              <a:t> and –</a:t>
            </a:r>
            <a:r>
              <a:rPr lang="en-GB" b="1" dirty="0" err="1"/>
              <a:t>ible</a:t>
            </a:r>
            <a:r>
              <a:rPr lang="en-GB" dirty="0"/>
              <a:t> meaning </a:t>
            </a:r>
            <a:r>
              <a:rPr lang="en-GB" u="sng" dirty="0"/>
              <a:t>able 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GB" dirty="0"/>
              <a:t>Words and their Constituents 3</a:t>
            </a:r>
          </a:p>
        </p:txBody>
      </p:sp>
      <p:sp>
        <p:nvSpPr>
          <p:cNvPr id="3" name="Content Placeholder 2"/>
          <p:cNvSpPr>
            <a:spLocks noGrp="1"/>
          </p:cNvSpPr>
          <p:nvPr>
            <p:ph idx="1"/>
          </p:nvPr>
        </p:nvSpPr>
        <p:spPr/>
        <p:txBody>
          <a:bodyPr>
            <a:normAutofit fontScale="92500" lnSpcReduction="10000"/>
          </a:bodyPr>
          <a:lstStyle/>
          <a:p>
            <a:pPr marL="274320" indent="-274320" eaLnBrk="1" fontAlgn="auto" hangingPunct="1">
              <a:spcAft>
                <a:spcPts val="0"/>
              </a:spcAft>
              <a:buClr>
                <a:schemeClr val="accent3"/>
              </a:buClr>
              <a:buFont typeface="Wingdings 2"/>
              <a:buNone/>
              <a:defRPr/>
            </a:pPr>
            <a:r>
              <a:rPr lang="en-GB" dirty="0"/>
              <a:t>	Are morphemes the same as syllables? Task 1 below should make it clear</a:t>
            </a:r>
          </a:p>
          <a:p>
            <a:pPr marL="274320" indent="-274320" eaLnBrk="1" fontAlgn="auto" hangingPunct="1">
              <a:spcAft>
                <a:spcPts val="0"/>
              </a:spcAft>
              <a:buClr>
                <a:schemeClr val="accent3"/>
              </a:buClr>
              <a:buFont typeface="Wingdings 2"/>
              <a:buNone/>
              <a:defRPr/>
            </a:pPr>
            <a:endParaRPr lang="en-GB" dirty="0"/>
          </a:p>
          <a:p>
            <a:pPr marL="274320" indent="-274320" eaLnBrk="1" fontAlgn="auto" hangingPunct="1">
              <a:spcAft>
                <a:spcPts val="0"/>
              </a:spcAft>
              <a:buClr>
                <a:schemeClr val="accent3"/>
              </a:buClr>
              <a:buFont typeface="Wingdings 2"/>
              <a:buNone/>
              <a:defRPr/>
            </a:pPr>
            <a:r>
              <a:rPr lang="en-GB" dirty="0"/>
              <a:t>Break the words listed below into syllables:</a:t>
            </a:r>
          </a:p>
          <a:p>
            <a:pPr marL="274320" indent="-274320" eaLnBrk="1" fontAlgn="auto" hangingPunct="1">
              <a:spcAft>
                <a:spcPts val="0"/>
              </a:spcAft>
              <a:buClr>
                <a:schemeClr val="accent3"/>
              </a:buClr>
              <a:buFont typeface="Wingdings 2"/>
              <a:buNone/>
              <a:defRPr/>
            </a:pPr>
            <a:r>
              <a:rPr lang="en-GB" dirty="0"/>
              <a:t>magnet = </a:t>
            </a:r>
            <a:r>
              <a:rPr lang="en-GB" dirty="0" err="1"/>
              <a:t>mag</a:t>
            </a:r>
            <a:r>
              <a:rPr lang="en-GB" dirty="0"/>
              <a:t>/net </a:t>
            </a:r>
          </a:p>
          <a:p>
            <a:pPr marL="274320" indent="-274320" eaLnBrk="1" fontAlgn="auto" hangingPunct="1">
              <a:spcAft>
                <a:spcPts val="0"/>
              </a:spcAft>
              <a:buClr>
                <a:schemeClr val="accent3"/>
              </a:buClr>
              <a:buFont typeface="Wingdings 2"/>
              <a:buNone/>
              <a:defRPr/>
            </a:pPr>
            <a:r>
              <a:rPr lang="en-GB" dirty="0"/>
              <a:t>demagnetization=</a:t>
            </a:r>
          </a:p>
          <a:p>
            <a:pPr marL="274320" indent="-274320" eaLnBrk="1" fontAlgn="auto" hangingPunct="1">
              <a:spcAft>
                <a:spcPts val="0"/>
              </a:spcAft>
              <a:buClr>
                <a:schemeClr val="accent3"/>
              </a:buClr>
              <a:buFont typeface="Wingdings 2"/>
              <a:buNone/>
              <a:defRPr/>
            </a:pPr>
            <a:r>
              <a:rPr lang="en-GB" dirty="0"/>
              <a:t>liquid=</a:t>
            </a:r>
          </a:p>
          <a:p>
            <a:pPr marL="274320" indent="-274320" eaLnBrk="1" fontAlgn="auto" hangingPunct="1">
              <a:spcAft>
                <a:spcPts val="0"/>
              </a:spcAft>
              <a:buClr>
                <a:schemeClr val="accent3"/>
              </a:buClr>
              <a:buFont typeface="Wingdings 2"/>
              <a:buNone/>
              <a:defRPr/>
            </a:pPr>
            <a:r>
              <a:rPr lang="en-GB" dirty="0"/>
              <a:t>liquefy=</a:t>
            </a:r>
          </a:p>
          <a:p>
            <a:pPr marL="274320" indent="-274320" eaLnBrk="1" fontAlgn="auto" hangingPunct="1">
              <a:spcAft>
                <a:spcPts val="0"/>
              </a:spcAft>
              <a:buClr>
                <a:schemeClr val="accent3"/>
              </a:buClr>
              <a:buFont typeface="Wingdings 2"/>
              <a:buNone/>
              <a:defRPr/>
            </a:pPr>
            <a:r>
              <a:rPr lang="en-GB" dirty="0"/>
              <a:t>liquefied=</a:t>
            </a:r>
          </a:p>
          <a:p>
            <a:pPr marL="274320" indent="-274320" eaLnBrk="1" fontAlgn="auto" hangingPunct="1">
              <a:spcAft>
                <a:spcPts val="0"/>
              </a:spcAft>
              <a:buClr>
                <a:schemeClr val="accent3"/>
              </a:buClr>
              <a:buFont typeface="Wingdings 2"/>
              <a:buNone/>
              <a:defRPr/>
            </a:pPr>
            <a:r>
              <a:rPr lang="en-GB" dirty="0"/>
              <a:t>liquefaction=</a:t>
            </a:r>
          </a:p>
          <a:p>
            <a:pPr marL="274320" indent="-274320" eaLnBrk="1" fontAlgn="auto" hangingPunct="1">
              <a:spcAft>
                <a:spcPts val="0"/>
              </a:spcAft>
              <a:buClr>
                <a:schemeClr val="accent3"/>
              </a:buClr>
              <a:buFont typeface="Wingdings 2"/>
              <a:buNone/>
              <a:defRPr/>
            </a:pPr>
            <a:r>
              <a:rPr lang="en-GB" dirty="0"/>
              <a:t>understand=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1143000"/>
          </a:xfrm>
        </p:spPr>
        <p:txBody>
          <a:bodyPr>
            <a:normAutofit fontScale="90000"/>
          </a:bodyPr>
          <a:lstStyle/>
          <a:p>
            <a:pPr eaLnBrk="1" fontAlgn="auto" hangingPunct="1">
              <a:spcAft>
                <a:spcPts val="0"/>
              </a:spcAft>
              <a:defRPr/>
            </a:pPr>
            <a:r>
              <a:rPr lang="en-GB" dirty="0"/>
              <a:t>Syllable &amp;Morpheme: how many</a:t>
            </a:r>
          </a:p>
        </p:txBody>
      </p:sp>
      <p:sp>
        <p:nvSpPr>
          <p:cNvPr id="10243" name="Content Placeholder 2"/>
          <p:cNvSpPr>
            <a:spLocks noGrp="1"/>
          </p:cNvSpPr>
          <p:nvPr>
            <p:ph sz="half" idx="1"/>
          </p:nvPr>
        </p:nvSpPr>
        <p:spPr>
          <a:xfrm>
            <a:off x="457200" y="1920875"/>
            <a:ext cx="4038600" cy="4433888"/>
          </a:xfrm>
        </p:spPr>
        <p:txBody>
          <a:bodyPr/>
          <a:lstStyle/>
          <a:p>
            <a:pPr eaLnBrk="1" hangingPunct="1">
              <a:buFont typeface="Wingdings 2" pitchFamily="18" charset="2"/>
              <a:buNone/>
            </a:pPr>
            <a:r>
              <a:rPr lang="en-GB" u="sng"/>
              <a:t>how many syllables</a:t>
            </a:r>
          </a:p>
          <a:p>
            <a:pPr eaLnBrk="1" hangingPunct="1">
              <a:buFont typeface="Wingdings 2" pitchFamily="18" charset="2"/>
              <a:buNone/>
            </a:pPr>
            <a:r>
              <a:rPr lang="en-GB"/>
              <a:t>magnet = mag/net =2</a:t>
            </a:r>
          </a:p>
          <a:p>
            <a:pPr eaLnBrk="1" hangingPunct="1">
              <a:buFont typeface="Wingdings 2" pitchFamily="18" charset="2"/>
              <a:buNone/>
            </a:pPr>
            <a:r>
              <a:rPr lang="en-GB"/>
              <a:t>demagnetization</a:t>
            </a:r>
          </a:p>
          <a:p>
            <a:pPr eaLnBrk="1" hangingPunct="1">
              <a:buFont typeface="Wingdings 2" pitchFamily="18" charset="2"/>
              <a:buNone/>
            </a:pPr>
            <a:r>
              <a:rPr lang="en-GB"/>
              <a:t>liquid</a:t>
            </a:r>
          </a:p>
          <a:p>
            <a:pPr eaLnBrk="1" hangingPunct="1">
              <a:buFont typeface="Wingdings 2" pitchFamily="18" charset="2"/>
              <a:buNone/>
            </a:pPr>
            <a:r>
              <a:rPr lang="en-GB"/>
              <a:t>liquefy</a:t>
            </a:r>
          </a:p>
          <a:p>
            <a:pPr eaLnBrk="1" hangingPunct="1">
              <a:buFont typeface="Wingdings 2" pitchFamily="18" charset="2"/>
              <a:buNone/>
            </a:pPr>
            <a:r>
              <a:rPr lang="en-GB"/>
              <a:t>liquefied</a:t>
            </a:r>
          </a:p>
          <a:p>
            <a:pPr eaLnBrk="1" hangingPunct="1">
              <a:buFont typeface="Wingdings 2" pitchFamily="18" charset="2"/>
              <a:buNone/>
            </a:pPr>
            <a:r>
              <a:rPr lang="en-GB"/>
              <a:t>liquefaction</a:t>
            </a:r>
          </a:p>
          <a:p>
            <a:pPr eaLnBrk="1" hangingPunct="1">
              <a:buFont typeface="Wingdings 2" pitchFamily="18" charset="2"/>
              <a:buNone/>
            </a:pPr>
            <a:r>
              <a:rPr lang="en-GB"/>
              <a:t>understand</a:t>
            </a:r>
          </a:p>
          <a:p>
            <a:pPr eaLnBrk="1" hangingPunct="1"/>
            <a:endParaRPr lang="en-GB"/>
          </a:p>
        </p:txBody>
      </p:sp>
      <p:sp>
        <p:nvSpPr>
          <p:cNvPr id="10244" name="Content Placeholder 3"/>
          <p:cNvSpPr>
            <a:spLocks noGrp="1"/>
          </p:cNvSpPr>
          <p:nvPr>
            <p:ph sz="half" idx="2"/>
          </p:nvPr>
        </p:nvSpPr>
        <p:spPr>
          <a:xfrm>
            <a:off x="4648200" y="1920875"/>
            <a:ext cx="4038600" cy="4433888"/>
          </a:xfrm>
        </p:spPr>
        <p:txBody>
          <a:bodyPr/>
          <a:lstStyle/>
          <a:p>
            <a:pPr eaLnBrk="1" hangingPunct="1">
              <a:buFont typeface="Wingdings 2" pitchFamily="18" charset="2"/>
              <a:buNone/>
            </a:pPr>
            <a:r>
              <a:rPr lang="en-GB" u="sng"/>
              <a:t>how many morphemes</a:t>
            </a:r>
          </a:p>
          <a:p>
            <a:pPr eaLnBrk="1" hangingPunct="1">
              <a:buFont typeface="Wingdings 2" pitchFamily="18" charset="2"/>
              <a:buNone/>
            </a:pPr>
            <a:r>
              <a:rPr lang="en-GB"/>
              <a:t>magnet = 1</a:t>
            </a:r>
          </a:p>
          <a:p>
            <a:pPr eaLnBrk="1" hangingPunct="1">
              <a:buFont typeface="Wingdings 2" pitchFamily="18" charset="2"/>
              <a:buNone/>
            </a:pPr>
            <a:r>
              <a:rPr lang="en-GB"/>
              <a:t>demagnetization=4</a:t>
            </a:r>
          </a:p>
          <a:p>
            <a:pPr eaLnBrk="1" hangingPunct="1">
              <a:buFont typeface="Wingdings 2" pitchFamily="18" charset="2"/>
              <a:buNone/>
            </a:pPr>
            <a:r>
              <a:rPr lang="en-GB"/>
              <a:t>liquid=1</a:t>
            </a:r>
          </a:p>
          <a:p>
            <a:pPr eaLnBrk="1" hangingPunct="1">
              <a:buFont typeface="Wingdings 2" pitchFamily="18" charset="2"/>
              <a:buNone/>
            </a:pPr>
            <a:r>
              <a:rPr lang="en-GB"/>
              <a:t>liquefy=2</a:t>
            </a:r>
          </a:p>
          <a:p>
            <a:pPr eaLnBrk="1" hangingPunct="1">
              <a:buFont typeface="Wingdings 2" pitchFamily="18" charset="2"/>
              <a:buNone/>
            </a:pPr>
            <a:r>
              <a:rPr lang="en-GB"/>
              <a:t>liquefied=3</a:t>
            </a:r>
          </a:p>
          <a:p>
            <a:pPr eaLnBrk="1" hangingPunct="1">
              <a:buFont typeface="Wingdings 2" pitchFamily="18" charset="2"/>
              <a:buNone/>
            </a:pPr>
            <a:r>
              <a:rPr lang="en-GB"/>
              <a:t>liquefaction=4</a:t>
            </a:r>
          </a:p>
          <a:p>
            <a:pPr eaLnBrk="1" hangingPunct="1">
              <a:buFont typeface="Wingdings 2" pitchFamily="18" charset="2"/>
              <a:buNone/>
            </a:pPr>
            <a:r>
              <a:rPr lang="en-GB"/>
              <a:t>understand=1</a:t>
            </a:r>
          </a:p>
          <a:p>
            <a:pPr eaLnBrk="1" hangingPunct="1"/>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algn="ctr" eaLnBrk="1" hangingPunct="1"/>
            <a:r>
              <a:rPr lang="en-GB" sz="3800"/>
              <a:t>Common Methods of Word Formation </a:t>
            </a:r>
          </a:p>
        </p:txBody>
      </p:sp>
      <p:sp>
        <p:nvSpPr>
          <p:cNvPr id="11267" name="Content Placeholder 2"/>
          <p:cNvSpPr>
            <a:spLocks noGrp="1"/>
          </p:cNvSpPr>
          <p:nvPr>
            <p:ph idx="1"/>
          </p:nvPr>
        </p:nvSpPr>
        <p:spPr/>
        <p:txBody>
          <a:bodyPr/>
          <a:lstStyle/>
          <a:p>
            <a:pPr lvl="1" eaLnBrk="1" hangingPunct="1"/>
            <a:r>
              <a:rPr lang="en-GB" sz="4400"/>
              <a:t>translingual borrowing</a:t>
            </a:r>
          </a:p>
          <a:p>
            <a:pPr lvl="1" eaLnBrk="1" hangingPunct="1"/>
            <a:r>
              <a:rPr lang="en-GB" sz="4400"/>
              <a:t>alphabetism</a:t>
            </a:r>
          </a:p>
          <a:p>
            <a:pPr lvl="1" eaLnBrk="1" hangingPunct="1"/>
            <a:r>
              <a:rPr lang="en-GB" sz="4400"/>
              <a:t>acronymy </a:t>
            </a:r>
          </a:p>
          <a:p>
            <a:pPr lvl="1" eaLnBrk="1" hangingPunct="1"/>
            <a:r>
              <a:rPr lang="en-GB" sz="4400"/>
              <a:t>affixation</a:t>
            </a:r>
          </a:p>
          <a:p>
            <a:pPr lvl="1" eaLnBrk="1" hangingPunct="1"/>
            <a:r>
              <a:rPr lang="en-GB" sz="4400"/>
              <a:t>compounding</a:t>
            </a:r>
          </a:p>
          <a:p>
            <a:pPr eaLnBrk="1" hangingPunct="1"/>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6"/>
          <p:cNvSpPr>
            <a:spLocks noGrp="1"/>
          </p:cNvSpPr>
          <p:nvPr>
            <p:ph type="title"/>
          </p:nvPr>
        </p:nvSpPr>
        <p:spPr/>
        <p:txBody>
          <a:bodyPr/>
          <a:lstStyle/>
          <a:p>
            <a:r>
              <a:rPr lang="en-GB"/>
              <a:t>Translingual borrowing</a:t>
            </a:r>
          </a:p>
        </p:txBody>
      </p:sp>
      <p:sp>
        <p:nvSpPr>
          <p:cNvPr id="12291" name="Content Placeholder 7"/>
          <p:cNvSpPr>
            <a:spLocks noGrp="1"/>
          </p:cNvSpPr>
          <p:nvPr>
            <p:ph idx="1"/>
          </p:nvPr>
        </p:nvSpPr>
        <p:spPr/>
        <p:txBody>
          <a:bodyPr/>
          <a:lstStyle/>
          <a:p>
            <a:pPr algn="just"/>
            <a:r>
              <a:rPr lang="en-GB" sz="1800" dirty="0"/>
              <a:t>Speakers of a language may adopt words from another to identify a concept which they have borrowed from the speakers of that language. New words have been created in English by adopting or adapting a word from other languages like French, Latin and some languages of Scandinavia during different periods of its development on account of contact between native speakers of English and people from other lands. In recent times, English has borrowed from the languages of Asia and Africa.   </a:t>
            </a:r>
          </a:p>
          <a:p>
            <a:pPr algn="just"/>
            <a:r>
              <a:rPr lang="en-GB" sz="1800" dirty="0"/>
              <a:t>The Yoruba words in Column I  have been adopted from other languages as shown below:                                                                   </a:t>
            </a:r>
          </a:p>
          <a:p>
            <a:pPr>
              <a:buFont typeface="Wingdings 2" pitchFamily="18" charset="2"/>
              <a:buNone/>
            </a:pPr>
            <a:endParaRPr lang="en-GB" sz="1800" dirty="0"/>
          </a:p>
        </p:txBody>
      </p:sp>
      <p:graphicFrame>
        <p:nvGraphicFramePr>
          <p:cNvPr id="4" name="Table 3"/>
          <p:cNvGraphicFramePr>
            <a:graphicFrameLocks noGrp="1"/>
          </p:cNvGraphicFramePr>
          <p:nvPr/>
        </p:nvGraphicFramePr>
        <p:xfrm>
          <a:off x="2643174" y="4572008"/>
          <a:ext cx="4857783" cy="1596012"/>
        </p:xfrm>
        <a:graphic>
          <a:graphicData uri="http://schemas.openxmlformats.org/drawingml/2006/table">
            <a:tbl>
              <a:tblPr firstRow="1" bandRow="1">
                <a:tableStyleId>{5C22544A-7EE6-4342-B048-85BDC9FD1C3A}</a:tableStyleId>
              </a:tblPr>
              <a:tblGrid>
                <a:gridCol w="1619261">
                  <a:extLst>
                    <a:ext uri="{9D8B030D-6E8A-4147-A177-3AD203B41FA5}">
                      <a16:colId xmlns:a16="http://schemas.microsoft.com/office/drawing/2014/main" val="20000"/>
                    </a:ext>
                  </a:extLst>
                </a:gridCol>
                <a:gridCol w="1619261">
                  <a:extLst>
                    <a:ext uri="{9D8B030D-6E8A-4147-A177-3AD203B41FA5}">
                      <a16:colId xmlns:a16="http://schemas.microsoft.com/office/drawing/2014/main" val="20001"/>
                    </a:ext>
                  </a:extLst>
                </a:gridCol>
                <a:gridCol w="1619261">
                  <a:extLst>
                    <a:ext uri="{9D8B030D-6E8A-4147-A177-3AD203B41FA5}">
                      <a16:colId xmlns:a16="http://schemas.microsoft.com/office/drawing/2014/main" val="20002"/>
                    </a:ext>
                  </a:extLst>
                </a:gridCol>
              </a:tblGrid>
              <a:tr h="239713">
                <a:tc>
                  <a:txBody>
                    <a:bodyPr/>
                    <a:lstStyle/>
                    <a:p>
                      <a:pPr algn="just">
                        <a:lnSpc>
                          <a:spcPct val="115000"/>
                        </a:lnSpc>
                        <a:spcAft>
                          <a:spcPts val="0"/>
                        </a:spcAft>
                      </a:pPr>
                      <a:r>
                        <a:rPr lang="en-GB" sz="900" dirty="0">
                          <a:solidFill>
                            <a:srgbClr val="000000"/>
                          </a:solidFill>
                          <a:latin typeface="Tahoma"/>
                          <a:ea typeface="Times New Roman"/>
                        </a:rPr>
                        <a:t>borrowed word</a:t>
                      </a:r>
                      <a:endParaRPr lang="en-GB" sz="1200" dirty="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source word/langauge</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meaning in Yoruba</a:t>
                      </a:r>
                      <a:endParaRPr lang="en-GB" sz="1200">
                        <a:latin typeface="Times New Roman"/>
                        <a:ea typeface="Times New Roman"/>
                      </a:endParaRPr>
                    </a:p>
                  </a:txBody>
                  <a:tcPr marL="68580" marR="68580" marT="0" marB="0"/>
                </a:tc>
                <a:extLst>
                  <a:ext uri="{0D108BD9-81ED-4DB2-BD59-A6C34878D82A}">
                    <a16:rowId xmlns:a16="http://schemas.microsoft.com/office/drawing/2014/main" val="10000"/>
                  </a:ext>
                </a:extLst>
              </a:tr>
              <a:tr h="239713">
                <a:tc>
                  <a:txBody>
                    <a:bodyPr/>
                    <a:lstStyle/>
                    <a:p>
                      <a:pPr algn="just">
                        <a:lnSpc>
                          <a:spcPct val="115000"/>
                        </a:lnSpc>
                        <a:spcAft>
                          <a:spcPts val="0"/>
                        </a:spcAft>
                      </a:pPr>
                      <a:r>
                        <a:rPr lang="en-GB" sz="900">
                          <a:solidFill>
                            <a:srgbClr val="000000"/>
                          </a:solidFill>
                          <a:latin typeface="Tahoma"/>
                          <a:ea typeface="Times New Roman"/>
                        </a:rPr>
                        <a:t>àrá</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ar-ra‘d (Arabic)</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thunder</a:t>
                      </a:r>
                      <a:endParaRPr lang="en-GB" sz="1200">
                        <a:latin typeface="Times New Roman"/>
                        <a:ea typeface="Times New Roman"/>
                      </a:endParaRPr>
                    </a:p>
                  </a:txBody>
                  <a:tcPr marL="68580" marR="68580" marT="0" marB="0"/>
                </a:tc>
                <a:extLst>
                  <a:ext uri="{0D108BD9-81ED-4DB2-BD59-A6C34878D82A}">
                    <a16:rowId xmlns:a16="http://schemas.microsoft.com/office/drawing/2014/main" val="10001"/>
                  </a:ext>
                </a:extLst>
              </a:tr>
              <a:tr h="239713">
                <a:tc>
                  <a:txBody>
                    <a:bodyPr/>
                    <a:lstStyle/>
                    <a:p>
                      <a:pPr algn="just">
                        <a:lnSpc>
                          <a:spcPct val="115000"/>
                        </a:lnSpc>
                        <a:spcAft>
                          <a:spcPts val="0"/>
                        </a:spcAft>
                      </a:pPr>
                      <a:r>
                        <a:rPr lang="en-GB" sz="900">
                          <a:solidFill>
                            <a:srgbClr val="000000"/>
                          </a:solidFill>
                          <a:latin typeface="Tahoma"/>
                          <a:ea typeface="Times New Roman"/>
                        </a:rPr>
                        <a:t>ṣáláńgá</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salga (Hausa)</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latrine</a:t>
                      </a:r>
                      <a:endParaRPr lang="en-GB" sz="1200">
                        <a:latin typeface="Times New Roman"/>
                        <a:ea typeface="Times New Roman"/>
                      </a:endParaRPr>
                    </a:p>
                  </a:txBody>
                  <a:tcPr marL="68580" marR="68580" marT="0" marB="0"/>
                </a:tc>
                <a:extLst>
                  <a:ext uri="{0D108BD9-81ED-4DB2-BD59-A6C34878D82A}">
                    <a16:rowId xmlns:a16="http://schemas.microsoft.com/office/drawing/2014/main" val="10002"/>
                  </a:ext>
                </a:extLst>
              </a:tr>
              <a:tr h="239713">
                <a:tc>
                  <a:txBody>
                    <a:bodyPr/>
                    <a:lstStyle/>
                    <a:p>
                      <a:pPr algn="just">
                        <a:lnSpc>
                          <a:spcPct val="115000"/>
                        </a:lnSpc>
                        <a:spcAft>
                          <a:spcPts val="0"/>
                        </a:spcAft>
                      </a:pPr>
                      <a:r>
                        <a:rPr lang="en-GB" sz="900">
                          <a:solidFill>
                            <a:srgbClr val="000000"/>
                          </a:solidFill>
                          <a:latin typeface="Tahoma"/>
                          <a:ea typeface="Times New Roman"/>
                        </a:rPr>
                        <a:t>ṣimí</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chemise (French)</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type of underwear</a:t>
                      </a:r>
                      <a:endParaRPr lang="en-GB" sz="1200">
                        <a:latin typeface="Times New Roman"/>
                        <a:ea typeface="Times New Roman"/>
                      </a:endParaRPr>
                    </a:p>
                  </a:txBody>
                  <a:tcPr marL="68580" marR="68580" marT="0" marB="0"/>
                </a:tc>
                <a:extLst>
                  <a:ext uri="{0D108BD9-81ED-4DB2-BD59-A6C34878D82A}">
                    <a16:rowId xmlns:a16="http://schemas.microsoft.com/office/drawing/2014/main" val="10003"/>
                  </a:ext>
                </a:extLst>
              </a:tr>
              <a:tr h="239713">
                <a:tc>
                  <a:txBody>
                    <a:bodyPr/>
                    <a:lstStyle/>
                    <a:p>
                      <a:pPr algn="just">
                        <a:lnSpc>
                          <a:spcPct val="115000"/>
                        </a:lnSpc>
                        <a:spcAft>
                          <a:spcPts val="0"/>
                        </a:spcAft>
                      </a:pPr>
                      <a:r>
                        <a:rPr lang="en-GB" sz="900">
                          <a:solidFill>
                            <a:srgbClr val="000000"/>
                          </a:solidFill>
                          <a:latin typeface="Tahoma"/>
                          <a:ea typeface="Times New Roman"/>
                        </a:rPr>
                        <a:t>eépìnì</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halfpenny (English)</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old unit of money</a:t>
                      </a:r>
                      <a:endParaRPr lang="en-GB" sz="1200">
                        <a:latin typeface="Times New Roman"/>
                        <a:ea typeface="Times New Roman"/>
                      </a:endParaRPr>
                    </a:p>
                  </a:txBody>
                  <a:tcPr marL="68580" marR="68580" marT="0" marB="0"/>
                </a:tc>
                <a:extLst>
                  <a:ext uri="{0D108BD9-81ED-4DB2-BD59-A6C34878D82A}">
                    <a16:rowId xmlns:a16="http://schemas.microsoft.com/office/drawing/2014/main" val="10004"/>
                  </a:ext>
                </a:extLst>
              </a:tr>
              <a:tr h="239713">
                <a:tc>
                  <a:txBody>
                    <a:bodyPr/>
                    <a:lstStyle/>
                    <a:p>
                      <a:pPr algn="just">
                        <a:lnSpc>
                          <a:spcPct val="115000"/>
                        </a:lnSpc>
                        <a:spcAft>
                          <a:spcPts val="0"/>
                        </a:spcAft>
                      </a:pPr>
                      <a:r>
                        <a:rPr lang="en-GB" sz="900">
                          <a:solidFill>
                            <a:srgbClr val="000000"/>
                          </a:solidFill>
                          <a:latin typeface="Tahoma"/>
                          <a:ea typeface="Times New Roman"/>
                        </a:rPr>
                        <a:t>títì</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street (English)</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tarred road</a:t>
                      </a:r>
                      <a:endParaRPr lang="en-GB" sz="1200">
                        <a:latin typeface="Times New Roman"/>
                        <a:ea typeface="Times New Roman"/>
                      </a:endParaRPr>
                    </a:p>
                  </a:txBody>
                  <a:tcPr marL="68580" marR="68580" marT="0" marB="0"/>
                </a:tc>
                <a:extLst>
                  <a:ext uri="{0D108BD9-81ED-4DB2-BD59-A6C34878D82A}">
                    <a16:rowId xmlns:a16="http://schemas.microsoft.com/office/drawing/2014/main" val="10005"/>
                  </a:ext>
                </a:extLst>
              </a:tr>
              <a:tr h="133361">
                <a:tc>
                  <a:txBody>
                    <a:bodyPr/>
                    <a:lstStyle/>
                    <a:p>
                      <a:pPr algn="just">
                        <a:lnSpc>
                          <a:spcPct val="115000"/>
                        </a:lnSpc>
                        <a:spcAft>
                          <a:spcPts val="0"/>
                        </a:spcAft>
                      </a:pPr>
                      <a:r>
                        <a:rPr lang="en-GB" sz="900">
                          <a:solidFill>
                            <a:srgbClr val="000000"/>
                          </a:solidFill>
                          <a:latin typeface="Tahoma"/>
                          <a:ea typeface="Times New Roman"/>
                        </a:rPr>
                        <a:t>úgú</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a:solidFill>
                            <a:srgbClr val="000000"/>
                          </a:solidFill>
                          <a:latin typeface="Tahoma"/>
                          <a:ea typeface="Times New Roman"/>
                        </a:rPr>
                        <a:t>ugwu (Igbo)</a:t>
                      </a:r>
                      <a:endParaRPr lang="en-GB" sz="1200">
                        <a:latin typeface="Times New Roman"/>
                        <a:ea typeface="Times New Roman"/>
                      </a:endParaRPr>
                    </a:p>
                  </a:txBody>
                  <a:tcPr marL="68580" marR="68580" marT="0" marB="0"/>
                </a:tc>
                <a:tc>
                  <a:txBody>
                    <a:bodyPr/>
                    <a:lstStyle/>
                    <a:p>
                      <a:pPr algn="just">
                        <a:lnSpc>
                          <a:spcPct val="115000"/>
                        </a:lnSpc>
                        <a:spcAft>
                          <a:spcPts val="0"/>
                        </a:spcAft>
                      </a:pPr>
                      <a:r>
                        <a:rPr lang="en-GB" sz="900" dirty="0">
                          <a:solidFill>
                            <a:srgbClr val="000000"/>
                          </a:solidFill>
                          <a:latin typeface="Tahoma"/>
                          <a:ea typeface="Times New Roman"/>
                        </a:rPr>
                        <a:t>type of vegetable</a:t>
                      </a:r>
                      <a:endParaRPr lang="en-GB" sz="1200" dirty="0">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a:t>Alphabetism </a:t>
            </a:r>
          </a:p>
        </p:txBody>
      </p:sp>
      <p:sp>
        <p:nvSpPr>
          <p:cNvPr id="15363" name="Content Placeholder 2"/>
          <p:cNvSpPr>
            <a:spLocks noGrp="1"/>
          </p:cNvSpPr>
          <p:nvPr>
            <p:ph idx="1"/>
          </p:nvPr>
        </p:nvSpPr>
        <p:spPr/>
        <p:txBody>
          <a:bodyPr/>
          <a:lstStyle/>
          <a:p>
            <a:pPr algn="just"/>
            <a:r>
              <a:rPr lang="en-GB" sz="2000"/>
              <a:t>This is a method of word building where the initial letters of commonly used phrases come to stand for or represent the whole phrase and signifies or means what the whole phrase means.</a:t>
            </a:r>
          </a:p>
          <a:p>
            <a:pPr algn="just"/>
            <a:r>
              <a:rPr lang="en-GB" sz="2000"/>
              <a:t>However, in pronouncing the new word, the letters are spelt out individually, as if reciting the alphabet.</a:t>
            </a:r>
          </a:p>
          <a:p>
            <a:pPr algn="just"/>
            <a:r>
              <a:rPr lang="en-GB" sz="2000"/>
              <a:t>The new word could be written in small letters, </a:t>
            </a:r>
          </a:p>
          <a:p>
            <a:pPr lvl="1" algn="just"/>
            <a:r>
              <a:rPr lang="en-GB" sz="1600"/>
              <a:t>e.g.  http (hypertext transfer protocol) </a:t>
            </a:r>
          </a:p>
          <a:p>
            <a:pPr algn="just"/>
            <a:r>
              <a:rPr lang="en-GB" sz="2000"/>
              <a:t>in capitals</a:t>
            </a:r>
            <a:r>
              <a:rPr lang="en-GB" sz="1800"/>
              <a:t>, </a:t>
            </a:r>
          </a:p>
          <a:p>
            <a:pPr lvl="1" algn="just"/>
            <a:r>
              <a:rPr lang="en-GB" sz="1600"/>
              <a:t>e.g. IT (Information Technology) </a:t>
            </a:r>
          </a:p>
          <a:p>
            <a:pPr algn="just"/>
            <a:r>
              <a:rPr lang="en-GB" sz="2000"/>
              <a:t>written together </a:t>
            </a:r>
          </a:p>
          <a:p>
            <a:pPr lvl="1" algn="just"/>
            <a:r>
              <a:rPr lang="en-GB" sz="1600"/>
              <a:t>e.g. SOS (Save our  souls) </a:t>
            </a:r>
          </a:p>
          <a:p>
            <a:pPr algn="just"/>
            <a:r>
              <a:rPr lang="en-GB" sz="2000"/>
              <a:t>separated by periods </a:t>
            </a:r>
          </a:p>
          <a:p>
            <a:pPr lvl="1" algn="just"/>
            <a:r>
              <a:rPr lang="en-GB" sz="1600"/>
              <a:t>e.g. a.m.u (atomic mass unit), r.p.m (revolutions per minute), A.h (Ampere-hour)</a:t>
            </a:r>
          </a:p>
          <a:p>
            <a:pPr algn="just"/>
            <a:endParaRPr lang="en-GB"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a:t>Task on Alphabetism</a:t>
            </a:r>
          </a:p>
        </p:txBody>
      </p:sp>
      <p:sp>
        <p:nvSpPr>
          <p:cNvPr id="16387" name="Content Placeholder 2"/>
          <p:cNvSpPr>
            <a:spLocks noGrp="1"/>
          </p:cNvSpPr>
          <p:nvPr>
            <p:ph idx="1"/>
          </p:nvPr>
        </p:nvSpPr>
        <p:spPr/>
        <p:txBody>
          <a:bodyPr/>
          <a:lstStyle/>
          <a:p>
            <a:r>
              <a:rPr lang="en-GB"/>
              <a:t>In your notebook, write the following alphabetisms in full:</a:t>
            </a:r>
          </a:p>
          <a:p>
            <a:pPr>
              <a:buFont typeface="Wingdings 2" pitchFamily="18" charset="2"/>
              <a:buNone/>
            </a:pPr>
            <a:endParaRPr lang="en-GB"/>
          </a:p>
          <a:p>
            <a:r>
              <a:rPr lang="en-GB"/>
              <a:t>AD, SD, COD, DC, AC, VHF, PVC,  FM, GSM, OCR,  HTML, SIM,</a:t>
            </a:r>
          </a:p>
          <a:p>
            <a:pPr>
              <a:buFont typeface="Wingdings 2" pitchFamily="18" charset="2"/>
              <a:buNone/>
            </a:pPr>
            <a:endParaRPr lang="en-GB"/>
          </a:p>
          <a:p>
            <a:r>
              <a:rPr lang="en-GB"/>
              <a:t> sg d.f. cc, www, a.k.a</a:t>
            </a:r>
          </a:p>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a:t>Acronymy</a:t>
            </a:r>
          </a:p>
        </p:txBody>
      </p:sp>
      <p:sp>
        <p:nvSpPr>
          <p:cNvPr id="17411" name="Content Placeholder 2"/>
          <p:cNvSpPr>
            <a:spLocks noGrp="1"/>
          </p:cNvSpPr>
          <p:nvPr>
            <p:ph idx="1"/>
          </p:nvPr>
        </p:nvSpPr>
        <p:spPr/>
        <p:txBody>
          <a:bodyPr/>
          <a:lstStyle/>
          <a:p>
            <a:r>
              <a:rPr lang="en-GB" sz="1800" dirty="0"/>
              <a:t>An acronym is also formed from the initials letters of commonly used phrases but the resulting string is pronounced as a word. </a:t>
            </a:r>
          </a:p>
          <a:p>
            <a:pPr algn="just"/>
            <a:r>
              <a:rPr lang="en-GB" sz="1800" dirty="0"/>
              <a:t>Examples includes UNESCO /</a:t>
            </a:r>
            <a:r>
              <a:rPr lang="en-GB" sz="1800" dirty="0" err="1"/>
              <a:t>ju`neskəυ</a:t>
            </a:r>
            <a:r>
              <a:rPr lang="en-GB" sz="1800" dirty="0"/>
              <a:t>/(United Nations Educational, Scientific, and Cultural Organization), FUTA /`</a:t>
            </a:r>
            <a:r>
              <a:rPr lang="en-GB" sz="1800" dirty="0" err="1"/>
              <a:t>fu:ta</a:t>
            </a:r>
            <a:r>
              <a:rPr lang="en-GB" sz="1800" dirty="0"/>
              <a:t>/(The Federal University of Technology, Akure), radar /`</a:t>
            </a:r>
            <a:r>
              <a:rPr lang="en-GB" sz="1800" dirty="0" err="1"/>
              <a:t>reidǝ</a:t>
            </a:r>
            <a:r>
              <a:rPr lang="en-GB" sz="1800" dirty="0"/>
              <a:t>/(radio detection and ranging), GIGO /`</a:t>
            </a:r>
            <a:r>
              <a:rPr lang="en-GB" sz="1800" dirty="0" err="1"/>
              <a:t>gaigəυ</a:t>
            </a:r>
            <a:r>
              <a:rPr lang="en-GB" sz="1800" dirty="0"/>
              <a:t> /(Garbage In, Garbage Out) and ABLE /`</a:t>
            </a:r>
            <a:r>
              <a:rPr lang="en-GB" sz="1800" dirty="0" err="1"/>
              <a:t>eibl</a:t>
            </a:r>
            <a:r>
              <a:rPr lang="en-GB" sz="1800" dirty="0"/>
              <a:t>/(Activity Balance Line Evaluation). </a:t>
            </a:r>
          </a:p>
          <a:p>
            <a:r>
              <a:rPr lang="en-GB" sz="1800" dirty="0"/>
              <a:t>Note that </a:t>
            </a:r>
            <a:r>
              <a:rPr lang="en-GB" sz="1800" dirty="0" err="1"/>
              <a:t>acronymy</a:t>
            </a:r>
            <a:r>
              <a:rPr lang="en-GB" sz="1800" dirty="0"/>
              <a:t> and alphabetism can be jointly referred to as </a:t>
            </a:r>
            <a:r>
              <a:rPr lang="en-GB" sz="1800" dirty="0" err="1"/>
              <a:t>initialism</a:t>
            </a:r>
            <a:r>
              <a:rPr lang="en-GB" sz="1800" dirty="0"/>
              <a:t>, since their components are initial letters</a:t>
            </a:r>
            <a:r>
              <a:rPr lang="yo-NG" sz="1800" dirty="0"/>
              <a:t>.</a:t>
            </a:r>
            <a:endParaRPr lang="en-GB" sz="1800" dirty="0"/>
          </a:p>
          <a:p>
            <a:pPr>
              <a:buFont typeface="Wingdings 2" pitchFamily="18" charset="2"/>
              <a:buNone/>
            </a:pPr>
            <a:r>
              <a:rPr lang="en-GB" sz="2800" dirty="0"/>
              <a:t>Task:  </a:t>
            </a:r>
            <a:r>
              <a:rPr lang="en-GB" sz="1800" dirty="0"/>
              <a:t>(</a:t>
            </a:r>
            <a:r>
              <a:rPr lang="en-GB" sz="1800" dirty="0" err="1"/>
              <a:t>i</a:t>
            </a:r>
            <a:r>
              <a:rPr lang="en-GB" sz="1800" dirty="0"/>
              <a:t>):</a:t>
            </a:r>
            <a:r>
              <a:rPr lang="en-GB" sz="2800" dirty="0"/>
              <a:t>  </a:t>
            </a:r>
            <a:r>
              <a:rPr lang="en-GB" sz="1800" dirty="0"/>
              <a:t>In your notebook, write the following acronyms in full:</a:t>
            </a:r>
          </a:p>
          <a:p>
            <a:pPr>
              <a:buFont typeface="Wingdings 2" pitchFamily="18" charset="2"/>
              <a:buNone/>
            </a:pPr>
            <a:r>
              <a:rPr lang="en-GB" sz="1800" dirty="0"/>
              <a:t>		       BASIC, COBOL, ASCII, CAD, SQUID, WORM, laser.</a:t>
            </a:r>
          </a:p>
          <a:p>
            <a:pPr algn="just">
              <a:buFont typeface="Wingdings 2" pitchFamily="18" charset="2"/>
              <a:buNone/>
            </a:pPr>
            <a:r>
              <a:rPr lang="en-GB" sz="1800" dirty="0"/>
              <a:t>		(ii): Find </a:t>
            </a:r>
            <a:r>
              <a:rPr lang="en-GB" sz="1800" b="1" dirty="0"/>
              <a:t>10 examples each</a:t>
            </a:r>
            <a:r>
              <a:rPr lang="en-GB" sz="1800" dirty="0"/>
              <a:t> of words formed through alphabetism and 	       </a:t>
            </a:r>
            <a:r>
              <a:rPr lang="en-GB" sz="1800" dirty="0" err="1"/>
              <a:t>acronymy</a:t>
            </a:r>
            <a:r>
              <a:rPr lang="en-GB" sz="1800" dirty="0"/>
              <a:t> in your subject area and record them in your notebook. 	       (You 	may need to consult a good dictionary).</a:t>
            </a:r>
          </a:p>
          <a:p>
            <a:pPr>
              <a:buFont typeface="Wingdings 2" pitchFamily="18" charset="2"/>
              <a:buNone/>
            </a:pPr>
            <a:endParaRPr lang="en-GB" sz="1800"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a:t>Clipping and Blending</a:t>
            </a:r>
          </a:p>
        </p:txBody>
      </p:sp>
      <p:sp>
        <p:nvSpPr>
          <p:cNvPr id="18435" name="Content Placeholder 2"/>
          <p:cNvSpPr>
            <a:spLocks noGrp="1"/>
          </p:cNvSpPr>
          <p:nvPr>
            <p:ph idx="1"/>
          </p:nvPr>
        </p:nvSpPr>
        <p:spPr/>
        <p:txBody>
          <a:bodyPr/>
          <a:lstStyle/>
          <a:p>
            <a:pPr algn="just"/>
            <a:r>
              <a:rPr lang="en-GB" sz="1800"/>
              <a:t>In this method of word formation, some syllables of a word are cut off, that is, clipped, and the rest are joined together to form a new word. It is of course possible for clipping to take place without any blending. The clip is then called a short form or an abbreviation.</a:t>
            </a:r>
          </a:p>
          <a:p>
            <a:pPr algn="just"/>
            <a:r>
              <a:rPr lang="en-GB" sz="1800"/>
              <a:t>Examples</a:t>
            </a:r>
          </a:p>
          <a:p>
            <a:pPr lvl="1"/>
            <a:r>
              <a:rPr lang="en-GB" sz="1400"/>
              <a:t>thermistor 	 from	</a:t>
            </a:r>
            <a:r>
              <a:rPr lang="en-GB" sz="1600" b="1"/>
              <a:t>therm</a:t>
            </a:r>
            <a:r>
              <a:rPr lang="en-GB" sz="1400"/>
              <a:t>al 		 res</a:t>
            </a:r>
            <a:r>
              <a:rPr lang="en-GB" sz="1600" b="1"/>
              <a:t>istor</a:t>
            </a:r>
            <a:endParaRPr lang="en-GB" sz="1400"/>
          </a:p>
          <a:p>
            <a:pPr lvl="1"/>
            <a:r>
              <a:rPr lang="en-GB" sz="1400"/>
              <a:t>bit		 from 	</a:t>
            </a:r>
            <a:r>
              <a:rPr lang="en-GB" sz="1600" b="1"/>
              <a:t>b</a:t>
            </a:r>
            <a:r>
              <a:rPr lang="en-GB" sz="1400"/>
              <a:t>inary   	 	 dig</a:t>
            </a:r>
            <a:r>
              <a:rPr lang="en-GB" sz="1600" b="1"/>
              <a:t>it</a:t>
            </a:r>
            <a:endParaRPr lang="en-GB" sz="1400"/>
          </a:p>
          <a:p>
            <a:pPr lvl="1"/>
            <a:r>
              <a:rPr lang="en-GB" sz="1400"/>
              <a:t>Blogging	 from  	We</a:t>
            </a:r>
            <a:r>
              <a:rPr lang="en-GB" sz="1600" b="1"/>
              <a:t>b</a:t>
            </a:r>
            <a:r>
              <a:rPr lang="en-GB" sz="1600"/>
              <a:t>      </a:t>
            </a:r>
            <a:r>
              <a:rPr lang="en-GB" sz="1400"/>
              <a:t>		</a:t>
            </a:r>
            <a:r>
              <a:rPr lang="en-GB" sz="1600" b="1"/>
              <a:t>logging</a:t>
            </a:r>
            <a:endParaRPr lang="en-GB" sz="1600"/>
          </a:p>
          <a:p>
            <a:pPr lvl="1"/>
            <a:r>
              <a:rPr lang="en-GB" sz="1400"/>
              <a:t>e-mail 	 from 	</a:t>
            </a:r>
            <a:r>
              <a:rPr lang="en-GB" sz="1600" b="1"/>
              <a:t>e</a:t>
            </a:r>
            <a:r>
              <a:rPr lang="en-GB" sz="1400"/>
              <a:t>lectronic 		</a:t>
            </a:r>
            <a:r>
              <a:rPr lang="en-GB" sz="1600" b="1"/>
              <a:t>mail</a:t>
            </a:r>
            <a:endParaRPr lang="en-GB" sz="1400"/>
          </a:p>
          <a:p>
            <a:pPr lvl="1"/>
            <a:r>
              <a:rPr lang="en-GB" sz="1400"/>
              <a:t>simulcast 	 from 	</a:t>
            </a:r>
            <a:r>
              <a:rPr lang="en-GB" sz="1600" b="1"/>
              <a:t>simul</a:t>
            </a:r>
            <a:r>
              <a:rPr lang="en-GB" sz="1400"/>
              <a:t>taneous 	broad</a:t>
            </a:r>
            <a:r>
              <a:rPr lang="en-GB" sz="1600" b="1"/>
              <a:t>cast</a:t>
            </a:r>
            <a:r>
              <a:rPr lang="en-GB" sz="1600"/>
              <a:t> </a:t>
            </a:r>
            <a:endParaRPr lang="en-GB" sz="1400"/>
          </a:p>
          <a:p>
            <a:pPr lvl="1"/>
            <a:r>
              <a:rPr lang="en-GB" sz="1400"/>
              <a:t>Fortran	 from 	</a:t>
            </a:r>
            <a:r>
              <a:rPr lang="en-GB" sz="1600" b="1"/>
              <a:t>for</a:t>
            </a:r>
            <a:r>
              <a:rPr lang="en-GB" sz="1400"/>
              <a:t>mula		</a:t>
            </a:r>
            <a:r>
              <a:rPr lang="en-GB" sz="1600" b="1"/>
              <a:t>tran</a:t>
            </a:r>
            <a:r>
              <a:rPr lang="en-GB" sz="1400"/>
              <a:t>slator</a:t>
            </a:r>
          </a:p>
          <a:p>
            <a:pPr lvl="1"/>
            <a:r>
              <a:rPr lang="en-GB" sz="1400"/>
              <a:t>Transistor	 from 	</a:t>
            </a:r>
            <a:r>
              <a:rPr lang="en-GB" sz="1600" b="1"/>
              <a:t>tran</a:t>
            </a:r>
            <a:r>
              <a:rPr lang="en-GB" sz="1400"/>
              <a:t>smitter	re</a:t>
            </a:r>
            <a:r>
              <a:rPr lang="en-GB" sz="1600" b="1"/>
              <a:t>sistor</a:t>
            </a:r>
            <a:endParaRPr lang="en-GB" sz="1400"/>
          </a:p>
          <a:p>
            <a:pPr lvl="1"/>
            <a:r>
              <a:rPr lang="en-GB" sz="1400"/>
              <a:t>Hi-fi	 from 	</a:t>
            </a:r>
            <a:r>
              <a:rPr lang="en-GB" sz="1600" b="1"/>
              <a:t>hi</a:t>
            </a:r>
            <a:r>
              <a:rPr lang="en-GB" sz="1400"/>
              <a:t>gh		</a:t>
            </a:r>
            <a:r>
              <a:rPr lang="en-GB" sz="1600" b="1"/>
              <a:t>fi</a:t>
            </a:r>
            <a:r>
              <a:rPr lang="en-GB" sz="1400"/>
              <a:t>delity</a:t>
            </a:r>
          </a:p>
          <a:p>
            <a:pPr algn="just"/>
            <a:endParaRPr lang="en-GB"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a:t>Affixation</a:t>
            </a:r>
          </a:p>
        </p:txBody>
      </p:sp>
      <p:sp>
        <p:nvSpPr>
          <p:cNvPr id="19459" name="Content Placeholder 2"/>
          <p:cNvSpPr>
            <a:spLocks noGrp="1"/>
          </p:cNvSpPr>
          <p:nvPr>
            <p:ph idx="1"/>
          </p:nvPr>
        </p:nvSpPr>
        <p:spPr/>
        <p:txBody>
          <a:bodyPr/>
          <a:lstStyle/>
          <a:p>
            <a:pPr algn="just"/>
            <a:r>
              <a:rPr lang="en-GB" sz="1700"/>
              <a:t>Affixation is a method of word formation where bound morphemes are added to free morphemes or already existing words. These bounds morphemes are called </a:t>
            </a:r>
            <a:r>
              <a:rPr lang="en-GB" sz="1700" b="1"/>
              <a:t>AFFIXES</a:t>
            </a:r>
            <a:r>
              <a:rPr lang="en-GB" sz="1700"/>
              <a:t>. </a:t>
            </a:r>
          </a:p>
          <a:p>
            <a:pPr algn="just"/>
            <a:r>
              <a:rPr lang="en-GB" sz="1700"/>
              <a:t>Affixes can be classified by their position in the word or by their grammatical function (i.e. whether  they change only the grammatical form of a word or its meaning)</a:t>
            </a:r>
          </a:p>
          <a:p>
            <a:pPr algn="just"/>
            <a:r>
              <a:rPr lang="en-GB" sz="1700" b="1"/>
              <a:t>Prefixes</a:t>
            </a:r>
            <a:r>
              <a:rPr lang="en-GB" sz="1700"/>
              <a:t> are placed before the base morpheme while </a:t>
            </a:r>
            <a:r>
              <a:rPr lang="en-GB" sz="1700" b="1"/>
              <a:t>suffixes</a:t>
            </a:r>
            <a:r>
              <a:rPr lang="en-GB" sz="1700"/>
              <a:t> are placed after.</a:t>
            </a:r>
          </a:p>
          <a:p>
            <a:pPr algn="just"/>
            <a:r>
              <a:rPr lang="en-GB" sz="1700"/>
              <a:t>Affixes are classified by grammatical function may be </a:t>
            </a:r>
            <a:r>
              <a:rPr lang="en-GB" sz="1700" b="1"/>
              <a:t>inflectional</a:t>
            </a:r>
            <a:r>
              <a:rPr lang="en-GB" sz="1700"/>
              <a:t> or </a:t>
            </a:r>
            <a:r>
              <a:rPr lang="en-GB" sz="1700" b="1"/>
              <a:t>derivational</a:t>
            </a:r>
            <a:r>
              <a:rPr lang="en-GB" sz="1700"/>
              <a:t>. </a:t>
            </a:r>
          </a:p>
          <a:p>
            <a:pPr algn="just"/>
            <a:r>
              <a:rPr lang="en-GB" sz="1700"/>
              <a:t>Inflectional affixes are usually suffixes and do not change the meaning or grammatical class of the word to which they are added. Rather, they serve to indicate tense or number in verbs, number, or possession in nouns and degree in adjective and adverbs. </a:t>
            </a:r>
          </a:p>
          <a:p>
            <a:pPr lvl="1"/>
            <a:r>
              <a:rPr lang="en-GB" sz="1500" b="1"/>
              <a:t>Verb:	  </a:t>
            </a:r>
            <a:r>
              <a:rPr lang="en-GB" sz="1500"/>
              <a:t>compute,	computes, 	computed,	computing</a:t>
            </a:r>
          </a:p>
          <a:p>
            <a:pPr lvl="1"/>
            <a:r>
              <a:rPr lang="en-GB" sz="1500" b="1"/>
              <a:t>Noun:         	  </a:t>
            </a:r>
            <a:r>
              <a:rPr lang="en-GB" sz="1500"/>
              <a:t>book,	books,	book’s</a:t>
            </a:r>
          </a:p>
          <a:p>
            <a:pPr lvl="1"/>
            <a:r>
              <a:rPr lang="en-GB" sz="1500" b="1"/>
              <a:t>Pronoun:   	  </a:t>
            </a:r>
            <a:r>
              <a:rPr lang="en-GB" sz="1500"/>
              <a:t>they,	them, 	theirs</a:t>
            </a:r>
          </a:p>
          <a:p>
            <a:pPr lvl="1"/>
            <a:r>
              <a:rPr lang="en-GB" sz="1500" b="1"/>
              <a:t>Adjective:  	  </a:t>
            </a:r>
            <a:r>
              <a:rPr lang="en-GB" sz="1500"/>
              <a:t>soft	softer	softest</a:t>
            </a:r>
          </a:p>
          <a:p>
            <a:endParaRPr lang="en-GB"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a:t>Affixation</a:t>
            </a:r>
          </a:p>
        </p:txBody>
      </p:sp>
      <p:sp>
        <p:nvSpPr>
          <p:cNvPr id="20483" name="Content Placeholder 2"/>
          <p:cNvSpPr>
            <a:spLocks noGrp="1"/>
          </p:cNvSpPr>
          <p:nvPr>
            <p:ph idx="1"/>
          </p:nvPr>
        </p:nvSpPr>
        <p:spPr/>
        <p:txBody>
          <a:bodyPr/>
          <a:lstStyle/>
          <a:p>
            <a:pPr algn="just"/>
            <a:r>
              <a:rPr lang="en-GB"/>
              <a:t>Derivational affixes usually affect the grammatical class of the words they are attached to or change their meanings. They can be prefixes and suffixes.</a:t>
            </a:r>
          </a:p>
          <a:p>
            <a:pPr algn="just">
              <a:buFont typeface="Wingdings 2" pitchFamily="18" charset="2"/>
              <a:buNone/>
            </a:pPr>
            <a:endParaRPr lang="en-GB"/>
          </a:p>
          <a:p>
            <a:pPr algn="just"/>
            <a:r>
              <a:rPr lang="en-GB"/>
              <a:t>The most common prefixes used to form new nouns in academic English are: co- and sub- , and  the most common suffixes are: -tion, -ity, -er, -ness, -ism, -ment, -ant, -ship, -age, -ery.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704850"/>
            <a:ext cx="8229600" cy="723886"/>
          </a:xfrm>
        </p:spPr>
        <p:txBody>
          <a:bodyPr/>
          <a:lstStyle/>
          <a:p>
            <a:r>
              <a:rPr lang="en-GB" b="1" dirty="0"/>
              <a:t>Some noun forming prefixes</a:t>
            </a:r>
            <a:endParaRPr lang="en-GB" dirty="0"/>
          </a:p>
        </p:txBody>
      </p:sp>
      <p:graphicFrame>
        <p:nvGraphicFramePr>
          <p:cNvPr id="4" name="Content Placeholder 3"/>
          <p:cNvGraphicFramePr>
            <a:graphicFrameLocks noGrp="1"/>
          </p:cNvGraphicFramePr>
          <p:nvPr>
            <p:ph idx="1"/>
          </p:nvPr>
        </p:nvGraphicFramePr>
        <p:xfrm>
          <a:off x="428596" y="1500173"/>
          <a:ext cx="8229600" cy="5120640"/>
        </p:xfrm>
        <a:graphic>
          <a:graphicData uri="http://schemas.openxmlformats.org/drawingml/2006/table">
            <a:tbl>
              <a:tblPr firstRow="1" bandRow="1">
                <a:tableStyleId>{5C22544A-7EE6-4342-B048-85BDC9FD1C3A}</a:tableStyleId>
              </a:tblPr>
              <a:tblGrid>
                <a:gridCol w="1400156">
                  <a:extLst>
                    <a:ext uri="{9D8B030D-6E8A-4147-A177-3AD203B41FA5}">
                      <a16:colId xmlns:a16="http://schemas.microsoft.com/office/drawing/2014/main" val="20000"/>
                    </a:ext>
                  </a:extLst>
                </a:gridCol>
                <a:gridCol w="2071702">
                  <a:extLst>
                    <a:ext uri="{9D8B030D-6E8A-4147-A177-3AD203B41FA5}">
                      <a16:colId xmlns:a16="http://schemas.microsoft.com/office/drawing/2014/main" val="20001"/>
                    </a:ext>
                  </a:extLst>
                </a:gridCol>
                <a:gridCol w="4757742">
                  <a:extLst>
                    <a:ext uri="{9D8B030D-6E8A-4147-A177-3AD203B41FA5}">
                      <a16:colId xmlns:a16="http://schemas.microsoft.com/office/drawing/2014/main" val="20002"/>
                    </a:ext>
                  </a:extLst>
                </a:gridCol>
              </a:tblGrid>
              <a:tr h="212406">
                <a:tc>
                  <a:txBody>
                    <a:bodyPr/>
                    <a:lstStyle/>
                    <a:p>
                      <a:pPr indent="457200" algn="just">
                        <a:lnSpc>
                          <a:spcPct val="200000"/>
                        </a:lnSpc>
                        <a:spcAft>
                          <a:spcPts val="0"/>
                        </a:spcAft>
                      </a:pPr>
                      <a:r>
                        <a:rPr lang="en-GB" sz="1400" i="0" dirty="0">
                          <a:latin typeface="Times New Roman"/>
                          <a:ea typeface="Times New Roman"/>
                        </a:rPr>
                        <a:t>prefix</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meaning</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Examples</a:t>
                      </a:r>
                    </a:p>
                  </a:txBody>
                  <a:tcPr marL="68580" marR="68580" marT="0" marB="0"/>
                </a:tc>
                <a:extLst>
                  <a:ext uri="{0D108BD9-81ED-4DB2-BD59-A6C34878D82A}">
                    <a16:rowId xmlns:a16="http://schemas.microsoft.com/office/drawing/2014/main" val="10000"/>
                  </a:ext>
                </a:extLst>
              </a:tr>
              <a:tr h="398862">
                <a:tc>
                  <a:txBody>
                    <a:bodyPr/>
                    <a:lstStyle/>
                    <a:p>
                      <a:pPr indent="457200" algn="just">
                        <a:lnSpc>
                          <a:spcPct val="200000"/>
                        </a:lnSpc>
                        <a:spcAft>
                          <a:spcPts val="0"/>
                        </a:spcAft>
                      </a:pPr>
                      <a:r>
                        <a:rPr lang="en-GB" sz="1400" i="0" dirty="0">
                          <a:latin typeface="Times New Roman"/>
                          <a:ea typeface="Times New Roman"/>
                        </a:rPr>
                        <a:t>ante</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before</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Antenatal, antediluvian</a:t>
                      </a:r>
                    </a:p>
                  </a:txBody>
                  <a:tcPr marL="68580" marR="68580" marT="0" marB="0"/>
                </a:tc>
                <a:extLst>
                  <a:ext uri="{0D108BD9-81ED-4DB2-BD59-A6C34878D82A}">
                    <a16:rowId xmlns:a16="http://schemas.microsoft.com/office/drawing/2014/main" val="10001"/>
                  </a:ext>
                </a:extLst>
              </a:tr>
              <a:tr h="398862">
                <a:tc>
                  <a:txBody>
                    <a:bodyPr/>
                    <a:lstStyle/>
                    <a:p>
                      <a:pPr indent="457200" algn="just">
                        <a:lnSpc>
                          <a:spcPct val="200000"/>
                        </a:lnSpc>
                        <a:spcAft>
                          <a:spcPts val="0"/>
                        </a:spcAft>
                      </a:pPr>
                      <a:r>
                        <a:rPr lang="en-GB" sz="1400" i="0" dirty="0">
                          <a:latin typeface="Times New Roman"/>
                          <a:ea typeface="Times New Roman"/>
                        </a:rPr>
                        <a:t>anti-</a:t>
                      </a:r>
                    </a:p>
                  </a:txBody>
                  <a:tcPr marL="68580" marR="68580" marT="0" marB="0"/>
                </a:tc>
                <a:tc>
                  <a:txBody>
                    <a:bodyPr/>
                    <a:lstStyle/>
                    <a:p>
                      <a:pPr indent="457200" algn="just">
                        <a:lnSpc>
                          <a:spcPct val="200000"/>
                        </a:lnSpc>
                        <a:spcAft>
                          <a:spcPts val="0"/>
                        </a:spcAft>
                      </a:pPr>
                      <a:r>
                        <a:rPr lang="en-GB" sz="1400">
                          <a:latin typeface="Times New Roman"/>
                          <a:ea typeface="Times New Roman"/>
                        </a:rPr>
                        <a:t>against</a:t>
                      </a:r>
                      <a:endParaRPr lang="en-GB" sz="1400" dirty="0">
                        <a:latin typeface="Times New Roman"/>
                        <a:ea typeface="Times New Roman"/>
                      </a:endParaRPr>
                    </a:p>
                  </a:txBody>
                  <a:tcPr marL="68580" marR="68580" marT="0" marB="0"/>
                </a:tc>
                <a:tc>
                  <a:txBody>
                    <a:bodyPr/>
                    <a:lstStyle/>
                    <a:p>
                      <a:pPr indent="457200" algn="just">
                        <a:lnSpc>
                          <a:spcPct val="200000"/>
                        </a:lnSpc>
                        <a:spcAft>
                          <a:spcPts val="0"/>
                        </a:spcAft>
                      </a:pPr>
                      <a:r>
                        <a:rPr lang="en-GB" sz="1400" dirty="0">
                          <a:latin typeface="Times New Roman"/>
                          <a:ea typeface="Times New Roman"/>
                        </a:rPr>
                        <a:t>Anticlimax, antidote, antithesis</a:t>
                      </a:r>
                    </a:p>
                  </a:txBody>
                  <a:tcPr marL="68580" marR="68580" marT="0" marB="0"/>
                </a:tc>
                <a:extLst>
                  <a:ext uri="{0D108BD9-81ED-4DB2-BD59-A6C34878D82A}">
                    <a16:rowId xmlns:a16="http://schemas.microsoft.com/office/drawing/2014/main" val="10002"/>
                  </a:ext>
                </a:extLst>
              </a:tr>
              <a:tr h="398862">
                <a:tc>
                  <a:txBody>
                    <a:bodyPr/>
                    <a:lstStyle/>
                    <a:p>
                      <a:pPr indent="457200" algn="just">
                        <a:lnSpc>
                          <a:spcPct val="200000"/>
                        </a:lnSpc>
                        <a:spcAft>
                          <a:spcPts val="0"/>
                        </a:spcAft>
                      </a:pPr>
                      <a:r>
                        <a:rPr lang="en-GB" sz="1400" i="0" dirty="0">
                          <a:latin typeface="Times New Roman"/>
                          <a:ea typeface="Times New Roman"/>
                        </a:rPr>
                        <a:t>auto-</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self</a:t>
                      </a:r>
                    </a:p>
                  </a:txBody>
                  <a:tcPr marL="68580" marR="68580" marT="0" marB="0"/>
                </a:tc>
                <a:tc>
                  <a:txBody>
                    <a:bodyPr/>
                    <a:lstStyle/>
                    <a:p>
                      <a:pPr indent="457200" algn="just">
                        <a:lnSpc>
                          <a:spcPct val="200000"/>
                        </a:lnSpc>
                        <a:spcAft>
                          <a:spcPts val="0"/>
                        </a:spcAft>
                      </a:pPr>
                      <a:r>
                        <a:rPr lang="en-GB" sz="1400">
                          <a:latin typeface="Times New Roman"/>
                          <a:ea typeface="Times New Roman"/>
                        </a:rPr>
                        <a:t>Autobiography, automobile</a:t>
                      </a:r>
                    </a:p>
                  </a:txBody>
                  <a:tcPr marL="68580" marR="68580" marT="0" marB="0"/>
                </a:tc>
                <a:extLst>
                  <a:ext uri="{0D108BD9-81ED-4DB2-BD59-A6C34878D82A}">
                    <a16:rowId xmlns:a16="http://schemas.microsoft.com/office/drawing/2014/main" val="10003"/>
                  </a:ext>
                </a:extLst>
              </a:tr>
              <a:tr h="398862">
                <a:tc>
                  <a:txBody>
                    <a:bodyPr/>
                    <a:lstStyle/>
                    <a:p>
                      <a:pPr indent="457200" algn="just">
                        <a:lnSpc>
                          <a:spcPct val="200000"/>
                        </a:lnSpc>
                        <a:spcAft>
                          <a:spcPts val="0"/>
                        </a:spcAft>
                      </a:pPr>
                      <a:r>
                        <a:rPr lang="en-GB" sz="1400" i="0">
                          <a:latin typeface="Times New Roman"/>
                          <a:ea typeface="Times New Roman"/>
                        </a:rPr>
                        <a:t>bi-</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two</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Bilingualism, biculturalism, bi-</a:t>
                      </a:r>
                      <a:r>
                        <a:rPr lang="en-GB" sz="1400" dirty="0" err="1">
                          <a:latin typeface="Times New Roman"/>
                          <a:ea typeface="Times New Roman"/>
                        </a:rPr>
                        <a:t>metalism</a:t>
                      </a:r>
                      <a:endParaRPr lang="en-GB" sz="1400" dirty="0">
                        <a:latin typeface="Times New Roman"/>
                        <a:ea typeface="Times New Roman"/>
                      </a:endParaRPr>
                    </a:p>
                  </a:txBody>
                  <a:tcPr marL="68580" marR="68580" marT="0" marB="0"/>
                </a:tc>
                <a:extLst>
                  <a:ext uri="{0D108BD9-81ED-4DB2-BD59-A6C34878D82A}">
                    <a16:rowId xmlns:a16="http://schemas.microsoft.com/office/drawing/2014/main" val="10004"/>
                  </a:ext>
                </a:extLst>
              </a:tr>
              <a:tr h="398862">
                <a:tc>
                  <a:txBody>
                    <a:bodyPr/>
                    <a:lstStyle/>
                    <a:p>
                      <a:pPr indent="457200" algn="just">
                        <a:lnSpc>
                          <a:spcPct val="200000"/>
                        </a:lnSpc>
                        <a:spcAft>
                          <a:spcPts val="0"/>
                        </a:spcAft>
                      </a:pPr>
                      <a:r>
                        <a:rPr lang="en-GB" sz="1400" i="0">
                          <a:latin typeface="Times New Roman"/>
                          <a:ea typeface="Times New Roman"/>
                        </a:rPr>
                        <a:t>co-</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joint</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Co-founder, co-worker, co-descendant</a:t>
                      </a:r>
                    </a:p>
                  </a:txBody>
                  <a:tcPr marL="68580" marR="68580" marT="0" marB="0"/>
                </a:tc>
                <a:extLst>
                  <a:ext uri="{0D108BD9-81ED-4DB2-BD59-A6C34878D82A}">
                    <a16:rowId xmlns:a16="http://schemas.microsoft.com/office/drawing/2014/main" val="10005"/>
                  </a:ext>
                </a:extLst>
              </a:tr>
              <a:tr h="398862">
                <a:tc>
                  <a:txBody>
                    <a:bodyPr/>
                    <a:lstStyle/>
                    <a:p>
                      <a:pPr indent="457200" algn="just">
                        <a:lnSpc>
                          <a:spcPct val="200000"/>
                        </a:lnSpc>
                        <a:spcAft>
                          <a:spcPts val="0"/>
                        </a:spcAft>
                      </a:pPr>
                      <a:r>
                        <a:rPr lang="en-GB" sz="1400" i="0" dirty="0" err="1">
                          <a:latin typeface="Times New Roman"/>
                          <a:ea typeface="Times New Roman"/>
                        </a:rPr>
                        <a:t>dis</a:t>
                      </a:r>
                      <a:r>
                        <a:rPr lang="en-GB" sz="1400" i="0" dirty="0">
                          <a:latin typeface="Times New Roman"/>
                          <a:ea typeface="Times New Roman"/>
                        </a:rPr>
                        <a:t>- </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the converse of</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Discomfort, dislike</a:t>
                      </a:r>
                    </a:p>
                  </a:txBody>
                  <a:tcPr marL="68580" marR="68580" marT="0" marB="0"/>
                </a:tc>
                <a:extLst>
                  <a:ext uri="{0D108BD9-81ED-4DB2-BD59-A6C34878D82A}">
                    <a16:rowId xmlns:a16="http://schemas.microsoft.com/office/drawing/2014/main" val="10006"/>
                  </a:ext>
                </a:extLst>
              </a:tr>
              <a:tr h="398862">
                <a:tc>
                  <a:txBody>
                    <a:bodyPr/>
                    <a:lstStyle/>
                    <a:p>
                      <a:pPr indent="457200" algn="just">
                        <a:lnSpc>
                          <a:spcPct val="200000"/>
                        </a:lnSpc>
                        <a:spcAft>
                          <a:spcPts val="0"/>
                        </a:spcAft>
                      </a:pPr>
                      <a:r>
                        <a:rPr lang="en-GB" sz="1400" i="0">
                          <a:latin typeface="Times New Roman"/>
                          <a:ea typeface="Times New Roman"/>
                        </a:rPr>
                        <a:t>ex-</a:t>
                      </a:r>
                    </a:p>
                  </a:txBody>
                  <a:tcPr marL="68580" marR="68580" marT="0" marB="0"/>
                </a:tc>
                <a:tc>
                  <a:txBody>
                    <a:bodyPr/>
                    <a:lstStyle/>
                    <a:p>
                      <a:pPr indent="457200" algn="just">
                        <a:lnSpc>
                          <a:spcPct val="200000"/>
                        </a:lnSpc>
                        <a:spcAft>
                          <a:spcPts val="0"/>
                        </a:spcAft>
                      </a:pPr>
                      <a:r>
                        <a:rPr lang="en-GB" sz="1400">
                          <a:latin typeface="Times New Roman"/>
                          <a:ea typeface="Times New Roman"/>
                        </a:rPr>
                        <a:t>former</a:t>
                      </a:r>
                      <a:endParaRPr lang="en-GB" sz="1400" dirty="0">
                        <a:latin typeface="Times New Roman"/>
                        <a:ea typeface="Times New Roman"/>
                      </a:endParaRPr>
                    </a:p>
                  </a:txBody>
                  <a:tcPr marL="68580" marR="68580" marT="0" marB="0"/>
                </a:tc>
                <a:tc>
                  <a:txBody>
                    <a:bodyPr/>
                    <a:lstStyle/>
                    <a:p>
                      <a:pPr indent="457200" algn="just">
                        <a:lnSpc>
                          <a:spcPct val="200000"/>
                        </a:lnSpc>
                        <a:spcAft>
                          <a:spcPts val="0"/>
                        </a:spcAft>
                      </a:pPr>
                      <a:r>
                        <a:rPr lang="en-GB" sz="1400" dirty="0">
                          <a:latin typeface="Times New Roman"/>
                          <a:ea typeface="Times New Roman"/>
                        </a:rPr>
                        <a:t>Ex-chairman, ex-hunter</a:t>
                      </a:r>
                    </a:p>
                  </a:txBody>
                  <a:tcPr marL="68580" marR="68580" marT="0" marB="0"/>
                </a:tc>
                <a:extLst>
                  <a:ext uri="{0D108BD9-81ED-4DB2-BD59-A6C34878D82A}">
                    <a16:rowId xmlns:a16="http://schemas.microsoft.com/office/drawing/2014/main" val="10007"/>
                  </a:ext>
                </a:extLst>
              </a:tr>
              <a:tr h="398862">
                <a:tc>
                  <a:txBody>
                    <a:bodyPr/>
                    <a:lstStyle/>
                    <a:p>
                      <a:pPr indent="457200" algn="just">
                        <a:lnSpc>
                          <a:spcPct val="200000"/>
                        </a:lnSpc>
                        <a:spcAft>
                          <a:spcPts val="0"/>
                        </a:spcAft>
                      </a:pPr>
                      <a:r>
                        <a:rPr lang="en-GB" sz="1400" i="0">
                          <a:latin typeface="Times New Roman"/>
                          <a:ea typeface="Times New Roman"/>
                        </a:rPr>
                        <a:t>hyper-</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extreme</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Hyperinflation, </a:t>
                      </a:r>
                      <a:r>
                        <a:rPr lang="en-GB" sz="1400" dirty="0" err="1">
                          <a:latin typeface="Times New Roman"/>
                          <a:ea typeface="Times New Roman"/>
                        </a:rPr>
                        <a:t>hypersurface</a:t>
                      </a:r>
                      <a:endParaRPr lang="en-GB" sz="1400" dirty="0">
                        <a:latin typeface="Times New Roman"/>
                        <a:ea typeface="Times New Roman"/>
                      </a:endParaRPr>
                    </a:p>
                  </a:txBody>
                  <a:tcPr marL="68580" marR="68580" marT="0" marB="0"/>
                </a:tc>
                <a:extLst>
                  <a:ext uri="{0D108BD9-81ED-4DB2-BD59-A6C34878D82A}">
                    <a16:rowId xmlns:a16="http://schemas.microsoft.com/office/drawing/2014/main" val="10008"/>
                  </a:ext>
                </a:extLst>
              </a:tr>
              <a:tr h="398862">
                <a:tc>
                  <a:txBody>
                    <a:bodyPr/>
                    <a:lstStyle/>
                    <a:p>
                      <a:pPr indent="457200" algn="just">
                        <a:lnSpc>
                          <a:spcPct val="200000"/>
                        </a:lnSpc>
                        <a:spcAft>
                          <a:spcPts val="0"/>
                        </a:spcAft>
                      </a:pPr>
                      <a:r>
                        <a:rPr lang="en-GB" sz="1400" i="0">
                          <a:latin typeface="Times New Roman"/>
                          <a:ea typeface="Times New Roman"/>
                        </a:rPr>
                        <a:t>in-</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the converse of</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Inattention, incoherence, incompatibility</a:t>
                      </a:r>
                    </a:p>
                  </a:txBody>
                  <a:tcPr marL="68580" marR="68580" marT="0" marB="0"/>
                </a:tc>
                <a:extLst>
                  <a:ext uri="{0D108BD9-81ED-4DB2-BD59-A6C34878D82A}">
                    <a16:rowId xmlns:a16="http://schemas.microsoft.com/office/drawing/2014/main" val="10009"/>
                  </a:ext>
                </a:extLst>
              </a:tr>
              <a:tr h="398862">
                <a:tc>
                  <a:txBody>
                    <a:bodyPr/>
                    <a:lstStyle/>
                    <a:p>
                      <a:pPr indent="457200" algn="just">
                        <a:lnSpc>
                          <a:spcPct val="200000"/>
                        </a:lnSpc>
                        <a:spcAft>
                          <a:spcPts val="0"/>
                        </a:spcAft>
                      </a:pPr>
                      <a:r>
                        <a:rPr lang="en-GB" sz="1400" i="0">
                          <a:latin typeface="Times New Roman"/>
                          <a:ea typeface="Times New Roman"/>
                        </a:rPr>
                        <a:t>in-</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inside</a:t>
                      </a:r>
                    </a:p>
                  </a:txBody>
                  <a:tcPr marL="68580" marR="68580" marT="0" marB="0"/>
                </a:tc>
                <a:tc>
                  <a:txBody>
                    <a:bodyPr/>
                    <a:lstStyle/>
                    <a:p>
                      <a:pPr indent="457200" algn="just">
                        <a:lnSpc>
                          <a:spcPct val="200000"/>
                        </a:lnSpc>
                        <a:spcAft>
                          <a:spcPts val="0"/>
                        </a:spcAft>
                      </a:pPr>
                      <a:r>
                        <a:rPr lang="en-GB" sz="1400" dirty="0">
                          <a:latin typeface="Times New Roman"/>
                          <a:ea typeface="Times New Roman"/>
                        </a:rPr>
                        <a:t>In-patient</a:t>
                      </a:r>
                    </a:p>
                  </a:txBody>
                  <a:tcPr marL="68580" marR="68580" marT="0" marB="0"/>
                </a:tc>
                <a:extLst>
                  <a:ext uri="{0D108BD9-81ED-4DB2-BD59-A6C34878D82A}">
                    <a16:rowId xmlns:a16="http://schemas.microsoft.com/office/drawing/2014/main" val="10010"/>
                  </a:ext>
                </a:extLst>
              </a:tr>
              <a:tr h="398862">
                <a:tc>
                  <a:txBody>
                    <a:bodyPr/>
                    <a:lstStyle/>
                    <a:p>
                      <a:pPr indent="457200" algn="just">
                        <a:lnSpc>
                          <a:spcPct val="200000"/>
                        </a:lnSpc>
                        <a:spcAft>
                          <a:spcPts val="0"/>
                        </a:spcAft>
                      </a:pPr>
                      <a:r>
                        <a:rPr lang="en-GB" sz="1400" i="0" dirty="0">
                          <a:latin typeface="Times New Roman"/>
                          <a:ea typeface="Times New Roman"/>
                        </a:rPr>
                        <a:t>infra</a:t>
                      </a:r>
                    </a:p>
                  </a:txBody>
                  <a:tcPr marL="68580" marR="68580" marT="0" marB="0"/>
                </a:tc>
                <a:tc>
                  <a:txBody>
                    <a:bodyPr/>
                    <a:lstStyle/>
                    <a:p>
                      <a:pPr indent="457200" algn="just">
                        <a:lnSpc>
                          <a:spcPct val="200000"/>
                        </a:lnSpc>
                        <a:spcAft>
                          <a:spcPts val="0"/>
                        </a:spcAft>
                      </a:pPr>
                      <a:r>
                        <a:rPr lang="en-GB" sz="1400">
                          <a:latin typeface="Times New Roman"/>
                          <a:ea typeface="Times New Roman"/>
                        </a:rPr>
                        <a:t>below</a:t>
                      </a:r>
                      <a:endParaRPr lang="en-GB" sz="1400" dirty="0">
                        <a:latin typeface="Times New Roman"/>
                        <a:ea typeface="Times New Roman"/>
                      </a:endParaRPr>
                    </a:p>
                  </a:txBody>
                  <a:tcPr marL="68580" marR="68580" marT="0" marB="0"/>
                </a:tc>
                <a:tc>
                  <a:txBody>
                    <a:bodyPr/>
                    <a:lstStyle/>
                    <a:p>
                      <a:pPr indent="457200" algn="just">
                        <a:lnSpc>
                          <a:spcPct val="200000"/>
                        </a:lnSpc>
                        <a:spcAft>
                          <a:spcPts val="0"/>
                        </a:spcAft>
                      </a:pPr>
                      <a:r>
                        <a:rPr lang="en-GB" sz="1400" dirty="0">
                          <a:latin typeface="Times New Roman"/>
                          <a:ea typeface="Times New Roman"/>
                        </a:rPr>
                        <a:t>Infrared, infrastructure</a:t>
                      </a:r>
                    </a:p>
                  </a:txBody>
                  <a:tcPr marL="68580" marR="6858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5400" dirty="0"/>
              <a:t>Some noun forming suffixes</a:t>
            </a:r>
          </a:p>
        </p:txBody>
      </p:sp>
      <p:graphicFrame>
        <p:nvGraphicFramePr>
          <p:cNvPr id="4" name="Content Placeholder 3"/>
          <p:cNvGraphicFramePr>
            <a:graphicFrameLocks noGrp="1"/>
          </p:cNvGraphicFramePr>
          <p:nvPr>
            <p:ph idx="1"/>
          </p:nvPr>
        </p:nvGraphicFramePr>
        <p:xfrm>
          <a:off x="457200" y="2000239"/>
          <a:ext cx="8229601" cy="4608592"/>
        </p:xfrm>
        <a:graphic>
          <a:graphicData uri="http://schemas.openxmlformats.org/drawingml/2006/table">
            <a:tbl>
              <a:tblPr firstRow="1" bandRow="1">
                <a:tableStyleId>{5C22544A-7EE6-4342-B048-85BDC9FD1C3A}</a:tableStyleId>
              </a:tblPr>
              <a:tblGrid>
                <a:gridCol w="1753824">
                  <a:extLst>
                    <a:ext uri="{9D8B030D-6E8A-4147-A177-3AD203B41FA5}">
                      <a16:colId xmlns:a16="http://schemas.microsoft.com/office/drawing/2014/main" val="20000"/>
                    </a:ext>
                  </a:extLst>
                </a:gridCol>
                <a:gridCol w="2563324">
                  <a:extLst>
                    <a:ext uri="{9D8B030D-6E8A-4147-A177-3AD203B41FA5}">
                      <a16:colId xmlns:a16="http://schemas.microsoft.com/office/drawing/2014/main" val="20001"/>
                    </a:ext>
                  </a:extLst>
                </a:gridCol>
                <a:gridCol w="3912453">
                  <a:extLst>
                    <a:ext uri="{9D8B030D-6E8A-4147-A177-3AD203B41FA5}">
                      <a16:colId xmlns:a16="http://schemas.microsoft.com/office/drawing/2014/main" val="20002"/>
                    </a:ext>
                  </a:extLst>
                </a:gridCol>
              </a:tblGrid>
              <a:tr h="313948">
                <a:tc>
                  <a:txBody>
                    <a:bodyPr/>
                    <a:lstStyle/>
                    <a:p>
                      <a:pPr indent="457200" algn="just">
                        <a:lnSpc>
                          <a:spcPct val="200000"/>
                        </a:lnSpc>
                        <a:spcAft>
                          <a:spcPts val="0"/>
                        </a:spcAft>
                      </a:pPr>
                      <a:r>
                        <a:rPr lang="en-GB" sz="900" b="1" dirty="0">
                          <a:latin typeface="Times New Roman"/>
                          <a:ea typeface="Times New Roman"/>
                        </a:rPr>
                        <a:t>Suffix</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b="1" dirty="0">
                          <a:latin typeface="Times New Roman"/>
                          <a:ea typeface="Times New Roman"/>
                        </a:rPr>
                        <a:t>Meaning</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b="1" dirty="0">
                          <a:latin typeface="Times New Roman"/>
                          <a:ea typeface="Times New Roman"/>
                        </a:rPr>
                        <a:t>Examples</a:t>
                      </a:r>
                      <a:endParaRPr lang="en-GB" sz="1200" dirty="0">
                        <a:latin typeface="Times New Roman"/>
                        <a:ea typeface="Times New Roman"/>
                      </a:endParaRPr>
                    </a:p>
                  </a:txBody>
                  <a:tcPr marL="68580" marR="68580" marT="0" marB="0"/>
                </a:tc>
                <a:extLst>
                  <a:ext uri="{0D108BD9-81ED-4DB2-BD59-A6C34878D82A}">
                    <a16:rowId xmlns:a16="http://schemas.microsoft.com/office/drawing/2014/main" val="10000"/>
                  </a:ext>
                </a:extLst>
              </a:tr>
              <a:tr h="313948">
                <a:tc gridSpan="3">
                  <a:txBody>
                    <a:bodyPr/>
                    <a:lstStyle/>
                    <a:p>
                      <a:pPr marL="342900" lvl="0" indent="-342900" algn="just">
                        <a:lnSpc>
                          <a:spcPct val="200000"/>
                        </a:lnSpc>
                        <a:spcAft>
                          <a:spcPts val="0"/>
                        </a:spcAft>
                        <a:buFont typeface="+mj-lt"/>
                        <a:buNone/>
                        <a:tabLst>
                          <a:tab pos="90170" algn="l"/>
                        </a:tabLst>
                      </a:pPr>
                      <a:r>
                        <a:rPr lang="en-GB" sz="900" dirty="0">
                          <a:latin typeface="Times New Roman"/>
                          <a:ea typeface="Times New Roman"/>
                        </a:rPr>
                        <a:t>                 </a:t>
                      </a:r>
                      <a:r>
                        <a:rPr lang="en-GB" sz="1000" b="1" dirty="0">
                          <a:latin typeface="Times New Roman"/>
                          <a:ea typeface="Times New Roman"/>
                        </a:rPr>
                        <a:t>Noun forming suffix added to a verb (V) to form a noun</a:t>
                      </a:r>
                      <a:endParaRPr lang="en-GB" sz="1400" b="1" dirty="0">
                        <a:latin typeface="Times New Roman"/>
                        <a:ea typeface="Times New Roman"/>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1"/>
                  </a:ext>
                </a:extLst>
              </a:tr>
              <a:tr h="313948">
                <a:tc>
                  <a:txBody>
                    <a:bodyPr/>
                    <a:lstStyle/>
                    <a:p>
                      <a:pPr indent="457200" algn="just">
                        <a:lnSpc>
                          <a:spcPct val="200000"/>
                        </a:lnSpc>
                        <a:spcAft>
                          <a:spcPts val="0"/>
                        </a:spcAft>
                      </a:pPr>
                      <a:r>
                        <a:rPr lang="en-GB" sz="900" dirty="0">
                          <a:latin typeface="Times New Roman"/>
                          <a:ea typeface="Times New Roman"/>
                        </a:rPr>
                        <a:t>-</a:t>
                      </a:r>
                      <a:r>
                        <a:rPr lang="en-GB" sz="900" dirty="0" err="1">
                          <a:latin typeface="Times New Roman"/>
                          <a:ea typeface="Times New Roman"/>
                        </a:rPr>
                        <a:t>tion</a:t>
                      </a:r>
                      <a:r>
                        <a:rPr lang="en-GB" sz="900" dirty="0">
                          <a:latin typeface="Times New Roman"/>
                          <a:ea typeface="Times New Roman"/>
                        </a:rPr>
                        <a:t>/-</a:t>
                      </a:r>
                      <a:r>
                        <a:rPr lang="en-GB" sz="900" dirty="0" err="1">
                          <a:latin typeface="Times New Roman"/>
                          <a:ea typeface="Times New Roman"/>
                        </a:rPr>
                        <a:t>sion</a:t>
                      </a:r>
                      <a:endParaRPr lang="en-GB" sz="1200" dirty="0">
                        <a:latin typeface="Times New Roman"/>
                        <a:ea typeface="Times New Roman"/>
                      </a:endParaRPr>
                    </a:p>
                  </a:txBody>
                  <a:tcPr marL="68580" marR="68580" marT="0" marB="0"/>
                </a:tc>
                <a:tc>
                  <a:txBody>
                    <a:bodyPr/>
                    <a:lstStyle/>
                    <a:p>
                      <a:pPr indent="457200">
                        <a:lnSpc>
                          <a:spcPct val="200000"/>
                        </a:lnSpc>
                        <a:spcAft>
                          <a:spcPts val="0"/>
                        </a:spcAft>
                      </a:pPr>
                      <a:r>
                        <a:rPr lang="en-GB" sz="900">
                          <a:latin typeface="Times New Roman"/>
                          <a:ea typeface="Times New Roman"/>
                        </a:rPr>
                        <a:t>Action/instance of     V –ing</a:t>
                      </a:r>
                      <a:endParaRPr lang="en-GB" sz="1200">
                        <a:latin typeface="Times New Roman"/>
                        <a:ea typeface="Times New Roman"/>
                      </a:endParaRPr>
                    </a:p>
                  </a:txBody>
                  <a:tcPr marL="68580" marR="68580" marT="0" marB="0"/>
                </a:tc>
                <a:tc>
                  <a:txBody>
                    <a:bodyPr/>
                    <a:lstStyle/>
                    <a:p>
                      <a:pPr indent="457200">
                        <a:lnSpc>
                          <a:spcPct val="200000"/>
                        </a:lnSpc>
                        <a:spcAft>
                          <a:spcPts val="0"/>
                        </a:spcAft>
                      </a:pPr>
                      <a:r>
                        <a:rPr lang="en-GB" sz="900">
                          <a:latin typeface="Times New Roman"/>
                          <a:ea typeface="Times New Roman"/>
                        </a:rPr>
                        <a:t>Alteration, demonstration, expansion, inclusion, admission</a:t>
                      </a:r>
                      <a:endParaRPr lang="en-GB" sz="1200">
                        <a:latin typeface="Times New Roman"/>
                        <a:ea typeface="Times New Roman"/>
                      </a:endParaRPr>
                    </a:p>
                  </a:txBody>
                  <a:tcPr marL="68580" marR="68580" marT="0" marB="0"/>
                </a:tc>
                <a:extLst>
                  <a:ext uri="{0D108BD9-81ED-4DB2-BD59-A6C34878D82A}">
                    <a16:rowId xmlns:a16="http://schemas.microsoft.com/office/drawing/2014/main" val="10002"/>
                  </a:ext>
                </a:extLst>
              </a:tr>
              <a:tr h="313948">
                <a:tc>
                  <a:txBody>
                    <a:bodyPr/>
                    <a:lstStyle/>
                    <a:p>
                      <a:pPr indent="457200" algn="just">
                        <a:lnSpc>
                          <a:spcPct val="200000"/>
                        </a:lnSpc>
                        <a:spcAft>
                          <a:spcPts val="0"/>
                        </a:spcAft>
                      </a:pPr>
                      <a:r>
                        <a:rPr lang="en-GB" sz="900" dirty="0">
                          <a:latin typeface="Times New Roman"/>
                          <a:ea typeface="Times New Roman"/>
                        </a:rPr>
                        <a:t>-</a:t>
                      </a:r>
                      <a:r>
                        <a:rPr lang="en-GB" sz="900" dirty="0" err="1">
                          <a:latin typeface="Times New Roman"/>
                          <a:ea typeface="Times New Roman"/>
                        </a:rPr>
                        <a:t>er</a:t>
                      </a:r>
                      <a:endParaRPr lang="en-GB" sz="1200" dirty="0">
                        <a:latin typeface="Times New Roman"/>
                        <a:ea typeface="Times New Roman"/>
                      </a:endParaRPr>
                    </a:p>
                  </a:txBody>
                  <a:tcPr marL="68580" marR="68580" marT="0" marB="0"/>
                </a:tc>
                <a:tc>
                  <a:txBody>
                    <a:bodyPr/>
                    <a:lstStyle/>
                    <a:p>
                      <a:pPr indent="457200">
                        <a:lnSpc>
                          <a:spcPct val="200000"/>
                        </a:lnSpc>
                        <a:spcAft>
                          <a:spcPts val="0"/>
                        </a:spcAft>
                      </a:pPr>
                      <a:r>
                        <a:rPr lang="en-GB" sz="900" dirty="0">
                          <a:latin typeface="Times New Roman"/>
                          <a:ea typeface="Times New Roman"/>
                        </a:rPr>
                        <a:t>Person who V-s something used for  V-</a:t>
                      </a:r>
                      <a:r>
                        <a:rPr lang="en-GB" sz="900" dirty="0" err="1">
                          <a:latin typeface="Times New Roman"/>
                          <a:ea typeface="Times New Roman"/>
                        </a:rPr>
                        <a:t>ing</a:t>
                      </a:r>
                      <a:endParaRPr lang="en-GB" sz="1200" dirty="0">
                        <a:latin typeface="Times New Roman"/>
                        <a:ea typeface="Times New Roman"/>
                      </a:endParaRPr>
                    </a:p>
                  </a:txBody>
                  <a:tcPr marL="68580" marR="68580" marT="0" marB="0"/>
                </a:tc>
                <a:tc>
                  <a:txBody>
                    <a:bodyPr/>
                    <a:lstStyle/>
                    <a:p>
                      <a:pPr indent="457200">
                        <a:lnSpc>
                          <a:spcPct val="200000"/>
                        </a:lnSpc>
                        <a:spcAft>
                          <a:spcPts val="0"/>
                        </a:spcAft>
                      </a:pPr>
                      <a:r>
                        <a:rPr lang="en-GB" sz="900" dirty="0">
                          <a:latin typeface="Times New Roman"/>
                          <a:ea typeface="Times New Roman"/>
                        </a:rPr>
                        <a:t>Advertiser, driver , Computer, silencer</a:t>
                      </a:r>
                      <a:endParaRPr lang="en-GB" sz="1200" dirty="0">
                        <a:latin typeface="Times New Roman"/>
                        <a:ea typeface="Times New Roman"/>
                      </a:endParaRPr>
                    </a:p>
                  </a:txBody>
                  <a:tcPr marL="68580" marR="68580" marT="0" marB="0"/>
                </a:tc>
                <a:extLst>
                  <a:ext uri="{0D108BD9-81ED-4DB2-BD59-A6C34878D82A}">
                    <a16:rowId xmlns:a16="http://schemas.microsoft.com/office/drawing/2014/main" val="10003"/>
                  </a:ext>
                </a:extLst>
              </a:tr>
              <a:tr h="274293">
                <a:tc>
                  <a:txBody>
                    <a:bodyPr/>
                    <a:lstStyle/>
                    <a:p>
                      <a:pPr indent="457200" algn="just">
                        <a:lnSpc>
                          <a:spcPct val="200000"/>
                        </a:lnSpc>
                        <a:spcAft>
                          <a:spcPts val="0"/>
                        </a:spcAft>
                      </a:pPr>
                      <a:r>
                        <a:rPr lang="en-GB" sz="900" dirty="0">
                          <a:latin typeface="Times New Roman"/>
                          <a:ea typeface="Times New Roman"/>
                        </a:rPr>
                        <a:t>-</a:t>
                      </a:r>
                      <a:r>
                        <a:rPr lang="en-GB" sz="900" dirty="0" err="1">
                          <a:latin typeface="Times New Roman"/>
                          <a:ea typeface="Times New Roman"/>
                        </a:rPr>
                        <a:t>ment</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Action/instance of    V-ing</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Development, punishment, unemployment</a:t>
                      </a:r>
                      <a:endParaRPr lang="en-GB" sz="1200">
                        <a:latin typeface="Times New Roman"/>
                        <a:ea typeface="Times New Roman"/>
                      </a:endParaRPr>
                    </a:p>
                  </a:txBody>
                  <a:tcPr marL="68580" marR="68580" marT="0" marB="0"/>
                </a:tc>
                <a:extLst>
                  <a:ext uri="{0D108BD9-81ED-4DB2-BD59-A6C34878D82A}">
                    <a16:rowId xmlns:a16="http://schemas.microsoft.com/office/drawing/2014/main" val="10004"/>
                  </a:ext>
                </a:extLst>
              </a:tr>
              <a:tr h="274293">
                <a:tc>
                  <a:txBody>
                    <a:bodyPr/>
                    <a:lstStyle/>
                    <a:p>
                      <a:pPr indent="457200" algn="just">
                        <a:lnSpc>
                          <a:spcPct val="200000"/>
                        </a:lnSpc>
                        <a:spcAft>
                          <a:spcPts val="0"/>
                        </a:spcAft>
                      </a:pPr>
                      <a:r>
                        <a:rPr lang="en-GB" sz="900" dirty="0">
                          <a:latin typeface="Times New Roman"/>
                          <a:ea typeface="Times New Roman"/>
                        </a:rPr>
                        <a:t>-ant/</a:t>
                      </a:r>
                      <a:r>
                        <a:rPr lang="en-GB" sz="900" dirty="0" err="1">
                          <a:latin typeface="Times New Roman"/>
                          <a:ea typeface="Times New Roman"/>
                        </a:rPr>
                        <a:t>ent</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Person who V-s</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Assistant, consultant, student</a:t>
                      </a:r>
                      <a:endParaRPr lang="en-GB" sz="1200">
                        <a:latin typeface="Times New Roman"/>
                        <a:ea typeface="Times New Roman"/>
                      </a:endParaRPr>
                    </a:p>
                  </a:txBody>
                  <a:tcPr marL="68580" marR="68580" marT="0" marB="0"/>
                </a:tc>
                <a:extLst>
                  <a:ext uri="{0D108BD9-81ED-4DB2-BD59-A6C34878D82A}">
                    <a16:rowId xmlns:a16="http://schemas.microsoft.com/office/drawing/2014/main" val="10005"/>
                  </a:ext>
                </a:extLst>
              </a:tr>
              <a:tr h="274293">
                <a:tc>
                  <a:txBody>
                    <a:bodyPr/>
                    <a:lstStyle/>
                    <a:p>
                      <a:pPr indent="457200" algn="just">
                        <a:lnSpc>
                          <a:spcPct val="200000"/>
                        </a:lnSpc>
                        <a:spcAft>
                          <a:spcPts val="0"/>
                        </a:spcAft>
                      </a:pPr>
                      <a:r>
                        <a:rPr lang="en-GB" sz="900" dirty="0">
                          <a:latin typeface="Times New Roman"/>
                          <a:ea typeface="Times New Roman"/>
                        </a:rPr>
                        <a:t>-age</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Action/result of V</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Breakage, wastage, package</a:t>
                      </a:r>
                      <a:endParaRPr lang="en-GB" sz="1200">
                        <a:latin typeface="Times New Roman"/>
                        <a:ea typeface="Times New Roman"/>
                      </a:endParaRPr>
                    </a:p>
                  </a:txBody>
                  <a:tcPr marL="68580" marR="68580" marT="0" marB="0"/>
                </a:tc>
                <a:extLst>
                  <a:ext uri="{0D108BD9-81ED-4DB2-BD59-A6C34878D82A}">
                    <a16:rowId xmlns:a16="http://schemas.microsoft.com/office/drawing/2014/main" val="10006"/>
                  </a:ext>
                </a:extLst>
              </a:tr>
              <a:tr h="274293">
                <a:tc gridSpan="3">
                  <a:txBody>
                    <a:bodyPr/>
                    <a:lstStyle/>
                    <a:p>
                      <a:pPr marL="342900" lvl="0" indent="-342900" algn="just">
                        <a:lnSpc>
                          <a:spcPct val="200000"/>
                        </a:lnSpc>
                        <a:spcAft>
                          <a:spcPts val="0"/>
                        </a:spcAft>
                        <a:buFont typeface="+mj-lt"/>
                        <a:buNone/>
                      </a:pPr>
                      <a:r>
                        <a:rPr lang="en-GB" sz="900" dirty="0">
                          <a:latin typeface="Times New Roman"/>
                          <a:ea typeface="Times New Roman"/>
                        </a:rPr>
                        <a:t>                 </a:t>
                      </a:r>
                      <a:r>
                        <a:rPr lang="en-GB" sz="1000" b="1" dirty="0">
                          <a:latin typeface="Times New Roman"/>
                          <a:ea typeface="Times New Roman"/>
                        </a:rPr>
                        <a:t>Noun forming suffix added to a  noun(N)  to form a  noun</a:t>
                      </a:r>
                      <a:endParaRPr lang="en-GB" sz="1400" b="1" dirty="0">
                        <a:latin typeface="Times New Roman"/>
                        <a:ea typeface="Times New Roman"/>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7"/>
                  </a:ext>
                </a:extLst>
              </a:tr>
              <a:tr h="274293">
                <a:tc>
                  <a:txBody>
                    <a:bodyPr/>
                    <a:lstStyle/>
                    <a:p>
                      <a:pPr indent="457200" algn="just">
                        <a:lnSpc>
                          <a:spcPct val="200000"/>
                        </a:lnSpc>
                        <a:spcAft>
                          <a:spcPts val="0"/>
                        </a:spcAft>
                      </a:pPr>
                      <a:r>
                        <a:rPr lang="en-GB" sz="900" dirty="0">
                          <a:latin typeface="Times New Roman"/>
                          <a:ea typeface="Times New Roman"/>
                        </a:rPr>
                        <a:t>-</a:t>
                      </a:r>
                      <a:r>
                        <a:rPr lang="en-GB" sz="900" dirty="0" err="1">
                          <a:latin typeface="Times New Roman"/>
                          <a:ea typeface="Times New Roman"/>
                        </a:rPr>
                        <a:t>er</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Person concerned with N</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Astronomer, geographer</a:t>
                      </a:r>
                      <a:endParaRPr lang="en-GB" sz="1200">
                        <a:latin typeface="Times New Roman"/>
                        <a:ea typeface="Times New Roman"/>
                      </a:endParaRPr>
                    </a:p>
                  </a:txBody>
                  <a:tcPr marL="68580" marR="68580" marT="0" marB="0"/>
                </a:tc>
                <a:extLst>
                  <a:ext uri="{0D108BD9-81ED-4DB2-BD59-A6C34878D82A}">
                    <a16:rowId xmlns:a16="http://schemas.microsoft.com/office/drawing/2014/main" val="10008"/>
                  </a:ext>
                </a:extLst>
              </a:tr>
              <a:tr h="274293">
                <a:tc>
                  <a:txBody>
                    <a:bodyPr/>
                    <a:lstStyle/>
                    <a:p>
                      <a:pPr indent="457200" algn="just">
                        <a:lnSpc>
                          <a:spcPct val="200000"/>
                        </a:lnSpc>
                        <a:spcAft>
                          <a:spcPts val="0"/>
                        </a:spcAft>
                      </a:pPr>
                      <a:r>
                        <a:rPr lang="en-GB" sz="900" dirty="0">
                          <a:latin typeface="Times New Roman"/>
                          <a:ea typeface="Times New Roman"/>
                        </a:rPr>
                        <a:t>-ism</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Doctrine of N</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Marxism, Maoism, Thatcherism</a:t>
                      </a:r>
                      <a:endParaRPr lang="en-GB" sz="1200">
                        <a:latin typeface="Times New Roman"/>
                        <a:ea typeface="Times New Roman"/>
                      </a:endParaRPr>
                    </a:p>
                  </a:txBody>
                  <a:tcPr marL="68580" marR="68580" marT="0" marB="0"/>
                </a:tc>
                <a:extLst>
                  <a:ext uri="{0D108BD9-81ED-4DB2-BD59-A6C34878D82A}">
                    <a16:rowId xmlns:a16="http://schemas.microsoft.com/office/drawing/2014/main" val="10009"/>
                  </a:ext>
                </a:extLst>
              </a:tr>
              <a:tr h="274293">
                <a:tc>
                  <a:txBody>
                    <a:bodyPr/>
                    <a:lstStyle/>
                    <a:p>
                      <a:pPr indent="457200" algn="just">
                        <a:lnSpc>
                          <a:spcPct val="200000"/>
                        </a:lnSpc>
                        <a:spcAft>
                          <a:spcPts val="0"/>
                        </a:spcAft>
                      </a:pPr>
                      <a:r>
                        <a:rPr lang="en-GB" sz="900" dirty="0">
                          <a:latin typeface="Times New Roman"/>
                          <a:ea typeface="Times New Roman"/>
                        </a:rPr>
                        <a:t>-ship</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State of being N</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Friendship, citizenship, leadership</a:t>
                      </a:r>
                      <a:endParaRPr lang="en-GB" sz="1200">
                        <a:latin typeface="Times New Roman"/>
                        <a:ea typeface="Times New Roman"/>
                      </a:endParaRPr>
                    </a:p>
                  </a:txBody>
                  <a:tcPr marL="68580" marR="68580" marT="0" marB="0"/>
                </a:tc>
                <a:extLst>
                  <a:ext uri="{0D108BD9-81ED-4DB2-BD59-A6C34878D82A}">
                    <a16:rowId xmlns:a16="http://schemas.microsoft.com/office/drawing/2014/main" val="10010"/>
                  </a:ext>
                </a:extLst>
              </a:tr>
              <a:tr h="274293">
                <a:tc>
                  <a:txBody>
                    <a:bodyPr/>
                    <a:lstStyle/>
                    <a:p>
                      <a:pPr indent="457200" algn="just">
                        <a:lnSpc>
                          <a:spcPct val="200000"/>
                        </a:lnSpc>
                        <a:spcAft>
                          <a:spcPts val="0"/>
                        </a:spcAft>
                      </a:pPr>
                      <a:r>
                        <a:rPr lang="en-GB" sz="900" dirty="0">
                          <a:latin typeface="Times New Roman"/>
                          <a:ea typeface="Times New Roman"/>
                        </a:rPr>
                        <a:t>-age</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Collection of N</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Baggage, plumage</a:t>
                      </a:r>
                      <a:endParaRPr lang="en-GB" sz="1200">
                        <a:latin typeface="Times New Roman"/>
                        <a:ea typeface="Times New Roman"/>
                      </a:endParaRPr>
                    </a:p>
                  </a:txBody>
                  <a:tcPr marL="68580" marR="68580" marT="0" marB="0"/>
                </a:tc>
                <a:extLst>
                  <a:ext uri="{0D108BD9-81ED-4DB2-BD59-A6C34878D82A}">
                    <a16:rowId xmlns:a16="http://schemas.microsoft.com/office/drawing/2014/main" val="10011"/>
                  </a:ext>
                </a:extLst>
              </a:tr>
              <a:tr h="274293">
                <a:tc gridSpan="3">
                  <a:txBody>
                    <a:bodyPr/>
                    <a:lstStyle/>
                    <a:p>
                      <a:pPr indent="457200" algn="just">
                        <a:lnSpc>
                          <a:spcPct val="200000"/>
                        </a:lnSpc>
                        <a:spcAft>
                          <a:spcPts val="0"/>
                        </a:spcAft>
                      </a:pPr>
                      <a:r>
                        <a:rPr lang="en-GB" sz="1000" b="1" dirty="0">
                          <a:latin typeface="Times New Roman"/>
                          <a:ea typeface="Times New Roman"/>
                        </a:rPr>
                        <a:t>Noun forming suffix added to an  adjective (A) to form a  noun</a:t>
                      </a:r>
                      <a:endParaRPr lang="en-GB" sz="1400" b="1" dirty="0">
                        <a:latin typeface="Times New Roman"/>
                        <a:ea typeface="Times New Roman"/>
                      </a:endParaRPr>
                    </a:p>
                  </a:txBody>
                  <a:tcPr marL="68580" marR="68580"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2"/>
                  </a:ext>
                </a:extLst>
              </a:tr>
              <a:tr h="274293">
                <a:tc>
                  <a:txBody>
                    <a:bodyPr/>
                    <a:lstStyle/>
                    <a:p>
                      <a:pPr indent="457200">
                        <a:lnSpc>
                          <a:spcPct val="200000"/>
                        </a:lnSpc>
                        <a:spcAft>
                          <a:spcPts val="0"/>
                        </a:spcAft>
                      </a:pPr>
                      <a:r>
                        <a:rPr lang="en-GB" sz="900" dirty="0">
                          <a:latin typeface="Times New Roman"/>
                          <a:ea typeface="Times New Roman"/>
                        </a:rPr>
                        <a:t>-</a:t>
                      </a:r>
                      <a:r>
                        <a:rPr lang="en-GB" sz="900" dirty="0" err="1">
                          <a:latin typeface="Times New Roman"/>
                          <a:ea typeface="Times New Roman"/>
                        </a:rPr>
                        <a:t>ity</a:t>
                      </a:r>
                      <a:endParaRPr lang="en-GB" sz="1200" dirty="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State or quality    of being A</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Ability, similarity, responsibility, curiosity</a:t>
                      </a:r>
                      <a:endParaRPr lang="en-GB" sz="1200">
                        <a:latin typeface="Times New Roman"/>
                        <a:ea typeface="Times New Roman"/>
                      </a:endParaRPr>
                    </a:p>
                  </a:txBody>
                  <a:tcPr marL="68580" marR="68580" marT="0" marB="0"/>
                </a:tc>
                <a:extLst>
                  <a:ext uri="{0D108BD9-81ED-4DB2-BD59-A6C34878D82A}">
                    <a16:rowId xmlns:a16="http://schemas.microsoft.com/office/drawing/2014/main" val="10013"/>
                  </a:ext>
                </a:extLst>
              </a:tr>
              <a:tr h="274293">
                <a:tc>
                  <a:txBody>
                    <a:bodyPr/>
                    <a:lstStyle/>
                    <a:p>
                      <a:pPr indent="457200" algn="just">
                        <a:lnSpc>
                          <a:spcPct val="200000"/>
                        </a:lnSpc>
                        <a:spcAft>
                          <a:spcPts val="0"/>
                        </a:spcAft>
                      </a:pPr>
                      <a:r>
                        <a:rPr lang="en-GB" sz="900">
                          <a:latin typeface="Times New Roman"/>
                          <a:ea typeface="Times New Roman"/>
                        </a:rPr>
                        <a:t>-ness</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State or quality    of being A</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Darkness, preparedness, consciousness</a:t>
                      </a:r>
                      <a:endParaRPr lang="en-GB" sz="1200">
                        <a:latin typeface="Times New Roman"/>
                        <a:ea typeface="Times New Roman"/>
                      </a:endParaRPr>
                    </a:p>
                  </a:txBody>
                  <a:tcPr marL="68580" marR="68580" marT="0" marB="0"/>
                </a:tc>
                <a:extLst>
                  <a:ext uri="{0D108BD9-81ED-4DB2-BD59-A6C34878D82A}">
                    <a16:rowId xmlns:a16="http://schemas.microsoft.com/office/drawing/2014/main" val="10014"/>
                  </a:ext>
                </a:extLst>
              </a:tr>
              <a:tr h="227582">
                <a:tc>
                  <a:txBody>
                    <a:bodyPr/>
                    <a:lstStyle/>
                    <a:p>
                      <a:pPr indent="457200" algn="just">
                        <a:lnSpc>
                          <a:spcPct val="200000"/>
                        </a:lnSpc>
                        <a:spcAft>
                          <a:spcPts val="0"/>
                        </a:spcAft>
                      </a:pPr>
                      <a:r>
                        <a:rPr lang="en-GB" sz="900">
                          <a:latin typeface="Times New Roman"/>
                          <a:ea typeface="Times New Roman"/>
                        </a:rPr>
                        <a:t>-cy</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a:latin typeface="Times New Roman"/>
                          <a:ea typeface="Times New Roman"/>
                        </a:rPr>
                        <a:t>State or quality    of being A</a:t>
                      </a:r>
                      <a:endParaRPr lang="en-GB" sz="1200">
                        <a:latin typeface="Times New Roman"/>
                        <a:ea typeface="Times New Roman"/>
                      </a:endParaRPr>
                    </a:p>
                  </a:txBody>
                  <a:tcPr marL="68580" marR="68580" marT="0" marB="0"/>
                </a:tc>
                <a:tc>
                  <a:txBody>
                    <a:bodyPr/>
                    <a:lstStyle/>
                    <a:p>
                      <a:pPr indent="457200" algn="just">
                        <a:lnSpc>
                          <a:spcPct val="200000"/>
                        </a:lnSpc>
                        <a:spcAft>
                          <a:spcPts val="0"/>
                        </a:spcAft>
                      </a:pPr>
                      <a:r>
                        <a:rPr lang="en-GB" sz="900" dirty="0">
                          <a:latin typeface="Times New Roman"/>
                          <a:ea typeface="Times New Roman"/>
                        </a:rPr>
                        <a:t>Urgency, efficiency, frequency</a:t>
                      </a:r>
                      <a:endParaRPr lang="en-GB" sz="1200" dirty="0">
                        <a:latin typeface="Times New Roman"/>
                        <a:ea typeface="Times New Roman"/>
                      </a:endParaRPr>
                    </a:p>
                  </a:txBody>
                  <a:tcPr marL="68580" marR="68580" marT="0" marB="0"/>
                </a:tc>
                <a:extLst>
                  <a:ext uri="{0D108BD9-81ED-4DB2-BD59-A6C34878D82A}">
                    <a16:rowId xmlns:a16="http://schemas.microsoft.com/office/drawing/2014/main" val="1001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5400" dirty="0"/>
              <a:t>Verb forming affixes</a:t>
            </a:r>
          </a:p>
        </p:txBody>
      </p:sp>
      <p:sp>
        <p:nvSpPr>
          <p:cNvPr id="3" name="Content Placeholder 2"/>
          <p:cNvSpPr>
            <a:spLocks noGrp="1"/>
          </p:cNvSpPr>
          <p:nvPr>
            <p:ph idx="1"/>
          </p:nvPr>
        </p:nvSpPr>
        <p:spPr/>
        <p:txBody>
          <a:bodyPr/>
          <a:lstStyle/>
          <a:p>
            <a:r>
              <a:rPr lang="en-GB" dirty="0"/>
              <a:t>New verbs can be formed from existing verbs in academic English by adding certain affixes. </a:t>
            </a:r>
          </a:p>
          <a:p>
            <a:r>
              <a:rPr lang="en-GB" dirty="0"/>
              <a:t>The most common prefixes used to form  new verbs are: re-, </a:t>
            </a:r>
            <a:r>
              <a:rPr lang="en-GB" dirty="0" err="1"/>
              <a:t>dis</a:t>
            </a:r>
            <a:r>
              <a:rPr lang="en-GB" dirty="0"/>
              <a:t>-, over-, un-, </a:t>
            </a:r>
            <a:r>
              <a:rPr lang="en-GB" dirty="0" err="1"/>
              <a:t>mis</a:t>
            </a:r>
            <a:r>
              <a:rPr lang="en-GB" dirty="0"/>
              <a:t>-, out-. </a:t>
            </a:r>
          </a:p>
          <a:p>
            <a:r>
              <a:rPr lang="en-GB" dirty="0"/>
              <a:t>The most common suffixes are: -</a:t>
            </a:r>
            <a:r>
              <a:rPr lang="en-GB" dirty="0" err="1"/>
              <a:t>ise</a:t>
            </a:r>
            <a:r>
              <a:rPr lang="en-GB" dirty="0"/>
              <a:t>/-</a:t>
            </a:r>
            <a:r>
              <a:rPr lang="en-GB" dirty="0" err="1"/>
              <a:t>ize</a:t>
            </a:r>
            <a:r>
              <a:rPr lang="en-GB" dirty="0"/>
              <a:t>, -en, -ate,       -</a:t>
            </a:r>
            <a:r>
              <a:rPr lang="en-GB" dirty="0" err="1"/>
              <a:t>fy</a:t>
            </a:r>
            <a:r>
              <a:rPr lang="en-GB" dirty="0"/>
              <a:t>/-</a:t>
            </a:r>
            <a:r>
              <a:rPr lang="en-GB" dirty="0" err="1"/>
              <a:t>ify</a:t>
            </a:r>
            <a:r>
              <a:rPr lang="en-GB" dirty="0"/>
              <a:t>. </a:t>
            </a:r>
          </a:p>
          <a:p>
            <a:r>
              <a:rPr lang="en-GB" dirty="0"/>
              <a:t>By far the most common affix in academic English is    -</a:t>
            </a:r>
            <a:r>
              <a:rPr lang="en-GB" dirty="0" err="1"/>
              <a:t>ise</a:t>
            </a:r>
            <a:r>
              <a:rPr lang="en-GB" dirty="0"/>
              <a:t>/-</a:t>
            </a:r>
            <a:r>
              <a:rPr lang="en-GB" dirty="0" err="1"/>
              <a:t>ize</a:t>
            </a:r>
            <a:endParaRPr lang="en-GB" dirty="0"/>
          </a:p>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Some verb forming prefixes</a:t>
            </a:r>
          </a:p>
        </p:txBody>
      </p:sp>
      <p:graphicFrame>
        <p:nvGraphicFramePr>
          <p:cNvPr id="4" name="Content Placeholder 3"/>
          <p:cNvGraphicFramePr>
            <a:graphicFrameLocks noGrp="1"/>
          </p:cNvGraphicFramePr>
          <p:nvPr>
            <p:ph idx="1"/>
          </p:nvPr>
        </p:nvGraphicFramePr>
        <p:xfrm>
          <a:off x="457200" y="1935163"/>
          <a:ext cx="8229600" cy="4079240"/>
        </p:xfrm>
        <a:graphic>
          <a:graphicData uri="http://schemas.openxmlformats.org/drawingml/2006/table">
            <a:tbl>
              <a:tblPr firstRow="1" bandRow="1">
                <a:tableStyleId>{5C22544A-7EE6-4342-B048-85BDC9FD1C3A}</a:tableStyleId>
              </a:tblPr>
              <a:tblGrid>
                <a:gridCol w="1471594">
                  <a:extLst>
                    <a:ext uri="{9D8B030D-6E8A-4147-A177-3AD203B41FA5}">
                      <a16:colId xmlns:a16="http://schemas.microsoft.com/office/drawing/2014/main" val="20000"/>
                    </a:ext>
                  </a:extLst>
                </a:gridCol>
                <a:gridCol w="2643206">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70840">
                <a:tc>
                  <a:txBody>
                    <a:bodyPr/>
                    <a:lstStyle/>
                    <a:p>
                      <a:pPr indent="457200" algn="just">
                        <a:lnSpc>
                          <a:spcPct val="200000"/>
                        </a:lnSpc>
                        <a:spcAft>
                          <a:spcPts val="0"/>
                        </a:spcAft>
                      </a:pPr>
                      <a:r>
                        <a:rPr lang="en-GB" sz="1200" b="1" dirty="0">
                          <a:latin typeface="Times New Roman"/>
                          <a:ea typeface="Times New Roman"/>
                          <a:cs typeface="Times New Roman"/>
                        </a:rPr>
                        <a:t>Prefix</a:t>
                      </a:r>
                      <a:endParaRPr lang="en-GB" sz="12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b="1">
                          <a:latin typeface="Times New Roman"/>
                          <a:ea typeface="Times New Roman"/>
                          <a:cs typeface="Times New Roman"/>
                        </a:rPr>
                        <a:t>Meaning</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b="1">
                          <a:latin typeface="Times New Roman"/>
                          <a:ea typeface="Times New Roman"/>
                          <a:cs typeface="Times New Roman"/>
                        </a:rPr>
                        <a:t>Examples</a:t>
                      </a:r>
                      <a:endParaRPr lang="en-GB" sz="120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r h="370840">
                <a:tc>
                  <a:txBody>
                    <a:bodyPr/>
                    <a:lstStyle/>
                    <a:p>
                      <a:pPr indent="457200" algn="just">
                        <a:lnSpc>
                          <a:spcPct val="200000"/>
                        </a:lnSpc>
                        <a:spcAft>
                          <a:spcPts val="0"/>
                        </a:spcAft>
                      </a:pPr>
                      <a:r>
                        <a:rPr lang="en-GB" sz="1200" i="1">
                          <a:latin typeface="Times New Roman"/>
                          <a:ea typeface="Times New Roman"/>
                          <a:cs typeface="Times New Roman"/>
                        </a:rPr>
                        <a:t>re-</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again or back</a:t>
                      </a:r>
                    </a:p>
                  </a:txBody>
                  <a:tcPr marL="68580" marR="68580" marT="0" marB="0"/>
                </a:tc>
                <a:tc>
                  <a:txBody>
                    <a:bodyPr/>
                    <a:lstStyle/>
                    <a:p>
                      <a:pPr indent="457200">
                        <a:lnSpc>
                          <a:spcPct val="200000"/>
                        </a:lnSpc>
                        <a:spcAft>
                          <a:spcPts val="0"/>
                        </a:spcAft>
                      </a:pPr>
                      <a:r>
                        <a:rPr lang="en-GB" sz="1200">
                          <a:latin typeface="Times New Roman"/>
                          <a:ea typeface="Times New Roman"/>
                          <a:cs typeface="Times New Roman"/>
                        </a:rPr>
                        <a:t>Restructure, revisit, reappear, rebuild, refinance</a:t>
                      </a:r>
                    </a:p>
                  </a:txBody>
                  <a:tcPr marL="68580" marR="68580" marT="0" marB="0"/>
                </a:tc>
                <a:extLst>
                  <a:ext uri="{0D108BD9-81ED-4DB2-BD59-A6C34878D82A}">
                    <a16:rowId xmlns:a16="http://schemas.microsoft.com/office/drawing/2014/main" val="10001"/>
                  </a:ext>
                </a:extLst>
              </a:tr>
              <a:tr h="370840">
                <a:tc>
                  <a:txBody>
                    <a:bodyPr/>
                    <a:lstStyle/>
                    <a:p>
                      <a:pPr indent="457200" algn="just">
                        <a:lnSpc>
                          <a:spcPct val="200000"/>
                        </a:lnSpc>
                        <a:spcAft>
                          <a:spcPts val="0"/>
                        </a:spcAft>
                      </a:pPr>
                      <a:r>
                        <a:rPr lang="en-GB" sz="1200" i="1">
                          <a:latin typeface="Times New Roman"/>
                          <a:ea typeface="Times New Roman"/>
                          <a:cs typeface="Times New Roman"/>
                        </a:rPr>
                        <a:t>dis-</a:t>
                      </a:r>
                      <a:endParaRPr lang="en-GB" sz="1200">
                        <a:latin typeface="Times New Roman"/>
                        <a:ea typeface="Times New Roman"/>
                        <a:cs typeface="Times New Roman"/>
                      </a:endParaRPr>
                    </a:p>
                  </a:txBody>
                  <a:tcPr marL="68580" marR="68580" marT="0" marB="0"/>
                </a:tc>
                <a:tc>
                  <a:txBody>
                    <a:bodyPr/>
                    <a:lstStyle/>
                    <a:p>
                      <a:pPr indent="457200">
                        <a:lnSpc>
                          <a:spcPct val="200000"/>
                        </a:lnSpc>
                        <a:spcAft>
                          <a:spcPts val="0"/>
                        </a:spcAft>
                      </a:pPr>
                      <a:r>
                        <a:rPr lang="en-GB" sz="1200">
                          <a:latin typeface="Times New Roman"/>
                          <a:ea typeface="Times New Roman"/>
                          <a:cs typeface="Times New Roman"/>
                        </a:rPr>
                        <a:t>reverses the meaning of the verb</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Disappear, disallow, disarm, disconnect, discontinue</a:t>
                      </a:r>
                    </a:p>
                  </a:txBody>
                  <a:tcPr marL="68580" marR="68580" marT="0" marB="0"/>
                </a:tc>
                <a:extLst>
                  <a:ext uri="{0D108BD9-81ED-4DB2-BD59-A6C34878D82A}">
                    <a16:rowId xmlns:a16="http://schemas.microsoft.com/office/drawing/2014/main" val="10002"/>
                  </a:ext>
                </a:extLst>
              </a:tr>
              <a:tr h="370840">
                <a:tc>
                  <a:txBody>
                    <a:bodyPr/>
                    <a:lstStyle/>
                    <a:p>
                      <a:pPr indent="457200" algn="just">
                        <a:lnSpc>
                          <a:spcPct val="200000"/>
                        </a:lnSpc>
                        <a:spcAft>
                          <a:spcPts val="0"/>
                        </a:spcAft>
                      </a:pPr>
                      <a:r>
                        <a:rPr lang="en-GB" sz="1200" i="1">
                          <a:latin typeface="Times New Roman"/>
                          <a:ea typeface="Times New Roman"/>
                          <a:cs typeface="Times New Roman"/>
                        </a:rPr>
                        <a:t>un-</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reverses the meaning of the verb</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Unbend, uncouple, unfasten</a:t>
                      </a:r>
                    </a:p>
                  </a:txBody>
                  <a:tcPr marL="68580" marR="68580" marT="0" marB="0"/>
                </a:tc>
                <a:extLst>
                  <a:ext uri="{0D108BD9-81ED-4DB2-BD59-A6C34878D82A}">
                    <a16:rowId xmlns:a16="http://schemas.microsoft.com/office/drawing/2014/main" val="10003"/>
                  </a:ext>
                </a:extLst>
              </a:tr>
              <a:tr h="370840">
                <a:tc>
                  <a:txBody>
                    <a:bodyPr/>
                    <a:lstStyle/>
                    <a:p>
                      <a:pPr indent="457200" algn="just">
                        <a:lnSpc>
                          <a:spcPct val="200000"/>
                        </a:lnSpc>
                        <a:spcAft>
                          <a:spcPts val="0"/>
                        </a:spcAft>
                      </a:pPr>
                      <a:r>
                        <a:rPr lang="en-GB" sz="1200" i="1">
                          <a:latin typeface="Times New Roman"/>
                          <a:ea typeface="Times New Roman"/>
                          <a:cs typeface="Times New Roman"/>
                        </a:rPr>
                        <a:t>Mis-</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Badly or wrongly</a:t>
                      </a:r>
                    </a:p>
                  </a:txBody>
                  <a:tcPr marL="68580" marR="68580" marT="0" marB="0"/>
                </a:tc>
                <a:tc>
                  <a:txBody>
                    <a:bodyPr/>
                    <a:lstStyle/>
                    <a:p>
                      <a:pPr indent="457200">
                        <a:lnSpc>
                          <a:spcPct val="200000"/>
                        </a:lnSpc>
                        <a:spcAft>
                          <a:spcPts val="0"/>
                        </a:spcAft>
                      </a:pPr>
                      <a:r>
                        <a:rPr lang="en-GB" sz="1200">
                          <a:latin typeface="Times New Roman"/>
                          <a:ea typeface="Times New Roman"/>
                          <a:cs typeface="Times New Roman"/>
                        </a:rPr>
                        <a:t>Mislead, misinform, misidentify</a:t>
                      </a:r>
                    </a:p>
                  </a:txBody>
                  <a:tcPr marL="68580" marR="68580" marT="0" marB="0"/>
                </a:tc>
                <a:extLst>
                  <a:ext uri="{0D108BD9-81ED-4DB2-BD59-A6C34878D82A}">
                    <a16:rowId xmlns:a16="http://schemas.microsoft.com/office/drawing/2014/main" val="10004"/>
                  </a:ext>
                </a:extLst>
              </a:tr>
              <a:tr h="370840">
                <a:tc>
                  <a:txBody>
                    <a:bodyPr/>
                    <a:lstStyle/>
                    <a:p>
                      <a:pPr indent="457200" algn="just">
                        <a:lnSpc>
                          <a:spcPct val="200000"/>
                        </a:lnSpc>
                        <a:spcAft>
                          <a:spcPts val="0"/>
                        </a:spcAft>
                      </a:pPr>
                      <a:r>
                        <a:rPr lang="en-GB" sz="1200" i="1">
                          <a:latin typeface="Times New Roman"/>
                          <a:ea typeface="Times New Roman"/>
                          <a:cs typeface="Times New Roman"/>
                        </a:rPr>
                        <a:t>Out-</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More or better than others</a:t>
                      </a:r>
                    </a:p>
                  </a:txBody>
                  <a:tcPr marL="68580" marR="68580" marT="0" marB="0"/>
                </a:tc>
                <a:tc>
                  <a:txBody>
                    <a:bodyPr/>
                    <a:lstStyle/>
                    <a:p>
                      <a:pPr indent="457200">
                        <a:lnSpc>
                          <a:spcPct val="200000"/>
                        </a:lnSpc>
                        <a:spcAft>
                          <a:spcPts val="0"/>
                        </a:spcAft>
                      </a:pPr>
                      <a:r>
                        <a:rPr lang="en-GB" sz="1200">
                          <a:latin typeface="Times New Roman"/>
                          <a:ea typeface="Times New Roman"/>
                          <a:cs typeface="Times New Roman"/>
                        </a:rPr>
                        <a:t>Outperform, outbid</a:t>
                      </a:r>
                    </a:p>
                  </a:txBody>
                  <a:tcPr marL="68580" marR="68580" marT="0" marB="0"/>
                </a:tc>
                <a:extLst>
                  <a:ext uri="{0D108BD9-81ED-4DB2-BD59-A6C34878D82A}">
                    <a16:rowId xmlns:a16="http://schemas.microsoft.com/office/drawing/2014/main" val="10005"/>
                  </a:ext>
                </a:extLst>
              </a:tr>
              <a:tr h="370840">
                <a:tc>
                  <a:txBody>
                    <a:bodyPr/>
                    <a:lstStyle/>
                    <a:p>
                      <a:pPr indent="457200" algn="just">
                        <a:lnSpc>
                          <a:spcPct val="200000"/>
                        </a:lnSpc>
                        <a:spcAft>
                          <a:spcPts val="0"/>
                        </a:spcAft>
                      </a:pPr>
                      <a:r>
                        <a:rPr lang="en-GB" sz="1200" i="1">
                          <a:latin typeface="Times New Roman"/>
                          <a:ea typeface="Times New Roman"/>
                          <a:cs typeface="Times New Roman"/>
                        </a:rPr>
                        <a:t>Be-</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make or cause</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befriend, belittle</a:t>
                      </a:r>
                    </a:p>
                  </a:txBody>
                  <a:tcPr marL="68580" marR="68580" marT="0" marB="0"/>
                </a:tc>
                <a:extLst>
                  <a:ext uri="{0D108BD9-81ED-4DB2-BD59-A6C34878D82A}">
                    <a16:rowId xmlns:a16="http://schemas.microsoft.com/office/drawing/2014/main" val="10006"/>
                  </a:ext>
                </a:extLst>
              </a:tr>
              <a:tr h="370840">
                <a:tc>
                  <a:txBody>
                    <a:bodyPr/>
                    <a:lstStyle/>
                    <a:p>
                      <a:pPr indent="457200" algn="just">
                        <a:lnSpc>
                          <a:spcPct val="200000"/>
                        </a:lnSpc>
                        <a:spcAft>
                          <a:spcPts val="0"/>
                        </a:spcAft>
                      </a:pPr>
                      <a:r>
                        <a:rPr lang="en-GB" sz="1200" i="1">
                          <a:latin typeface="Times New Roman"/>
                          <a:ea typeface="Times New Roman"/>
                          <a:cs typeface="Times New Roman"/>
                        </a:rPr>
                        <a:t>Co-</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together </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Co-exist, co-operate, co-own</a:t>
                      </a:r>
                    </a:p>
                  </a:txBody>
                  <a:tcPr marL="68580" marR="68580" marT="0" marB="0"/>
                </a:tc>
                <a:extLst>
                  <a:ext uri="{0D108BD9-81ED-4DB2-BD59-A6C34878D82A}">
                    <a16:rowId xmlns:a16="http://schemas.microsoft.com/office/drawing/2014/main" val="10007"/>
                  </a:ext>
                </a:extLst>
              </a:tr>
              <a:tr h="370840">
                <a:tc>
                  <a:txBody>
                    <a:bodyPr/>
                    <a:lstStyle/>
                    <a:p>
                      <a:pPr indent="457200" algn="just">
                        <a:lnSpc>
                          <a:spcPct val="200000"/>
                        </a:lnSpc>
                        <a:spcAft>
                          <a:spcPts val="0"/>
                        </a:spcAft>
                      </a:pPr>
                      <a:r>
                        <a:rPr lang="en-GB" sz="1200" i="1">
                          <a:latin typeface="Times New Roman"/>
                          <a:ea typeface="Times New Roman"/>
                          <a:cs typeface="Times New Roman"/>
                        </a:rPr>
                        <a:t>de-</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Do the opposite of </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Devalue, deselect</a:t>
                      </a:r>
                    </a:p>
                  </a:txBody>
                  <a:tcPr marL="68580" marR="68580" marT="0" marB="0"/>
                </a:tc>
                <a:extLst>
                  <a:ext uri="{0D108BD9-81ED-4DB2-BD59-A6C34878D82A}">
                    <a16:rowId xmlns:a16="http://schemas.microsoft.com/office/drawing/2014/main" val="10008"/>
                  </a:ext>
                </a:extLst>
              </a:tr>
              <a:tr h="370840">
                <a:tc>
                  <a:txBody>
                    <a:bodyPr/>
                    <a:lstStyle/>
                    <a:p>
                      <a:pPr indent="457200" algn="just">
                        <a:lnSpc>
                          <a:spcPct val="200000"/>
                        </a:lnSpc>
                        <a:spcAft>
                          <a:spcPts val="0"/>
                        </a:spcAft>
                      </a:pPr>
                      <a:r>
                        <a:rPr lang="en-GB" sz="1200" i="1">
                          <a:latin typeface="Times New Roman"/>
                          <a:ea typeface="Times New Roman"/>
                          <a:cs typeface="Times New Roman"/>
                        </a:rPr>
                        <a:t>fore-</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Earlier, before</a:t>
                      </a: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Foreclose, foresee</a:t>
                      </a:r>
                    </a:p>
                  </a:txBody>
                  <a:tcPr marL="68580" marR="68580" marT="0" marB="0"/>
                </a:tc>
                <a:extLst>
                  <a:ext uri="{0D108BD9-81ED-4DB2-BD59-A6C34878D82A}">
                    <a16:rowId xmlns:a16="http://schemas.microsoft.com/office/drawing/2014/main" val="10009"/>
                  </a:ext>
                </a:extLst>
              </a:tr>
              <a:tr h="370840">
                <a:tc>
                  <a:txBody>
                    <a:bodyPr/>
                    <a:lstStyle/>
                    <a:p>
                      <a:pPr indent="457200" algn="just">
                        <a:lnSpc>
                          <a:spcPct val="200000"/>
                        </a:lnSpc>
                        <a:spcAft>
                          <a:spcPts val="0"/>
                        </a:spcAft>
                      </a:pPr>
                      <a:r>
                        <a:rPr lang="en-GB" sz="1200" i="1">
                          <a:latin typeface="Times New Roman"/>
                          <a:ea typeface="Times New Roman"/>
                          <a:cs typeface="Times New Roman"/>
                        </a:rPr>
                        <a:t>Inter-</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200">
                          <a:latin typeface="Times New Roman"/>
                          <a:ea typeface="Times New Roman"/>
                          <a:cs typeface="Times New Roman"/>
                        </a:rPr>
                        <a:t>Between</a:t>
                      </a:r>
                    </a:p>
                  </a:txBody>
                  <a:tcPr marL="68580" marR="68580" marT="0" marB="0"/>
                </a:tc>
                <a:tc>
                  <a:txBody>
                    <a:bodyPr/>
                    <a:lstStyle/>
                    <a:p>
                      <a:pPr indent="457200" algn="just">
                        <a:lnSpc>
                          <a:spcPct val="200000"/>
                        </a:lnSpc>
                        <a:spcAft>
                          <a:spcPts val="0"/>
                        </a:spcAft>
                      </a:pPr>
                      <a:r>
                        <a:rPr lang="en-GB" sz="1200" dirty="0">
                          <a:latin typeface="Times New Roman"/>
                          <a:ea typeface="Times New Roman"/>
                          <a:cs typeface="Times New Roman"/>
                        </a:rPr>
                        <a:t>Interact, intermix, interface</a:t>
                      </a: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Verb forming suffixes</a:t>
            </a:r>
          </a:p>
        </p:txBody>
      </p:sp>
      <p:sp>
        <p:nvSpPr>
          <p:cNvPr id="3" name="Content Placeholder 2"/>
          <p:cNvSpPr>
            <a:spLocks noGrp="1"/>
          </p:cNvSpPr>
          <p:nvPr>
            <p:ph idx="1"/>
          </p:nvPr>
        </p:nvSpPr>
        <p:spPr/>
        <p:txBody>
          <a:bodyPr/>
          <a:lstStyle/>
          <a:p>
            <a:r>
              <a:rPr lang="en-GB" dirty="0"/>
              <a:t>Suffixes can be added to a noun or an adjective to form  verbs with the general meaning ‘cause to be’ or ‘make’. For example, stabilise means ‘cause to be stable’ and ‘classify’ means ‘make into a class’</a:t>
            </a:r>
          </a:p>
          <a:p>
            <a:endParaRPr lang="en-GB" dirty="0"/>
          </a:p>
          <a:p>
            <a:endParaRPr lang="en-GB" dirty="0"/>
          </a:p>
        </p:txBody>
      </p:sp>
      <p:graphicFrame>
        <p:nvGraphicFramePr>
          <p:cNvPr id="4" name="Table 3"/>
          <p:cNvGraphicFramePr>
            <a:graphicFrameLocks noGrp="1"/>
          </p:cNvGraphicFramePr>
          <p:nvPr/>
        </p:nvGraphicFramePr>
        <p:xfrm>
          <a:off x="785786" y="3786190"/>
          <a:ext cx="7000924" cy="2225040"/>
        </p:xfrm>
        <a:graphic>
          <a:graphicData uri="http://schemas.openxmlformats.org/drawingml/2006/table">
            <a:tbl>
              <a:tblPr firstRow="1" bandRow="1">
                <a:tableStyleId>{5C22544A-7EE6-4342-B048-85BDC9FD1C3A}</a:tableStyleId>
              </a:tblPr>
              <a:tblGrid>
                <a:gridCol w="1000132">
                  <a:extLst>
                    <a:ext uri="{9D8B030D-6E8A-4147-A177-3AD203B41FA5}">
                      <a16:colId xmlns:a16="http://schemas.microsoft.com/office/drawing/2014/main" val="20000"/>
                    </a:ext>
                  </a:extLst>
                </a:gridCol>
                <a:gridCol w="1857388">
                  <a:extLst>
                    <a:ext uri="{9D8B030D-6E8A-4147-A177-3AD203B41FA5}">
                      <a16:colId xmlns:a16="http://schemas.microsoft.com/office/drawing/2014/main" val="20001"/>
                    </a:ext>
                  </a:extLst>
                </a:gridCol>
                <a:gridCol w="4143404">
                  <a:extLst>
                    <a:ext uri="{9D8B030D-6E8A-4147-A177-3AD203B41FA5}">
                      <a16:colId xmlns:a16="http://schemas.microsoft.com/office/drawing/2014/main" val="20002"/>
                    </a:ext>
                  </a:extLst>
                </a:gridCol>
              </a:tblGrid>
              <a:tr h="370840">
                <a:tc>
                  <a:txBody>
                    <a:bodyPr/>
                    <a:lstStyle/>
                    <a:p>
                      <a:pPr indent="457200" algn="just">
                        <a:lnSpc>
                          <a:spcPct val="200000"/>
                        </a:lnSpc>
                        <a:spcAft>
                          <a:spcPts val="0"/>
                        </a:spcAft>
                      </a:pPr>
                      <a:r>
                        <a:rPr lang="en-GB" sz="1100" b="1" dirty="0">
                          <a:latin typeface="Times New Roman"/>
                          <a:ea typeface="Times New Roman"/>
                          <a:cs typeface="Times New Roman"/>
                        </a:rPr>
                        <a:t>Suffix</a:t>
                      </a:r>
                      <a:endParaRPr lang="en-GB" sz="12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b="1">
                          <a:latin typeface="Times New Roman"/>
                          <a:ea typeface="Times New Roman"/>
                          <a:cs typeface="Times New Roman"/>
                        </a:rPr>
                        <a:t>Meaning</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b="1" dirty="0">
                          <a:latin typeface="Times New Roman"/>
                          <a:ea typeface="Times New Roman"/>
                          <a:cs typeface="Times New Roman"/>
                        </a:rPr>
                        <a:t>Examples</a:t>
                      </a:r>
                      <a:endParaRPr lang="en-GB" sz="12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r h="370840">
                <a:tc>
                  <a:txBody>
                    <a:bodyPr/>
                    <a:lstStyle/>
                    <a:p>
                      <a:pPr indent="457200" algn="just">
                        <a:lnSpc>
                          <a:spcPct val="200000"/>
                        </a:lnSpc>
                        <a:spcAft>
                          <a:spcPts val="0"/>
                        </a:spcAft>
                      </a:pPr>
                      <a:r>
                        <a:rPr lang="en-GB" sz="1100" dirty="0">
                          <a:latin typeface="Times New Roman"/>
                          <a:ea typeface="Times New Roman"/>
                          <a:cs typeface="Times New Roman"/>
                        </a:rPr>
                        <a:t>-</a:t>
                      </a:r>
                      <a:r>
                        <a:rPr lang="en-GB" sz="1100" dirty="0" err="1">
                          <a:latin typeface="Times New Roman"/>
                          <a:ea typeface="Times New Roman"/>
                          <a:cs typeface="Times New Roman"/>
                        </a:rPr>
                        <a:t>ise</a:t>
                      </a:r>
                      <a:endParaRPr lang="en-GB" sz="12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cause to be V</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Stabilize, characterize, symbolize, visualize, specialise</a:t>
                      </a:r>
                      <a:endParaRPr lang="en-GB" sz="1200">
                        <a:latin typeface="Times New Roman"/>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457200" algn="just">
                        <a:lnSpc>
                          <a:spcPct val="200000"/>
                        </a:lnSpc>
                        <a:spcAft>
                          <a:spcPts val="0"/>
                        </a:spcAft>
                      </a:pPr>
                      <a:r>
                        <a:rPr lang="en-GB" sz="1100">
                          <a:latin typeface="Times New Roman"/>
                          <a:ea typeface="Times New Roman"/>
                          <a:cs typeface="Times New Roman"/>
                        </a:rPr>
                        <a:t>-ate</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cause to be V</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Differentiate, liquidate, pollinate, duplicate, fabricate</a:t>
                      </a:r>
                      <a:endParaRPr lang="en-GB" sz="1200">
                        <a:latin typeface="Times New Roman"/>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457200" algn="just">
                        <a:lnSpc>
                          <a:spcPct val="200000"/>
                        </a:lnSpc>
                        <a:spcAft>
                          <a:spcPts val="0"/>
                        </a:spcAft>
                      </a:pPr>
                      <a:r>
                        <a:rPr lang="en-GB" sz="1100">
                          <a:latin typeface="Times New Roman"/>
                          <a:ea typeface="Times New Roman"/>
                          <a:cs typeface="Times New Roman"/>
                        </a:rPr>
                        <a:t>-fy</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cause to be V</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Classify, exemplify, simplify, justify</a:t>
                      </a:r>
                      <a:endParaRPr lang="en-GB" sz="1200">
                        <a:latin typeface="Times New Roman"/>
                        <a:ea typeface="Times New Roman"/>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indent="457200" algn="just">
                        <a:lnSpc>
                          <a:spcPct val="200000"/>
                        </a:lnSpc>
                        <a:spcAft>
                          <a:spcPts val="0"/>
                        </a:spcAft>
                      </a:pPr>
                      <a:r>
                        <a:rPr lang="en-GB" sz="1100">
                          <a:latin typeface="Times New Roman"/>
                          <a:ea typeface="Times New Roman"/>
                          <a:cs typeface="Times New Roman"/>
                        </a:rPr>
                        <a:t>-en</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a:latin typeface="Times New Roman"/>
                          <a:ea typeface="Times New Roman"/>
                          <a:cs typeface="Times New Roman"/>
                        </a:rPr>
                        <a:t>cause to be V</a:t>
                      </a:r>
                      <a:endParaRPr lang="en-GB" sz="12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100" dirty="0">
                          <a:latin typeface="Times New Roman"/>
                          <a:ea typeface="Times New Roman"/>
                          <a:cs typeface="Times New Roman"/>
                        </a:rPr>
                        <a:t>Awaken, fasten, shorten, moisten</a:t>
                      </a:r>
                      <a:endParaRPr lang="en-GB" sz="12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4"/>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00108"/>
            <a:ext cx="7972452" cy="785818"/>
          </a:xfrm>
        </p:spPr>
        <p:txBody>
          <a:bodyPr/>
          <a:lstStyle/>
          <a:p>
            <a:r>
              <a:rPr lang="en-GB" sz="4800" dirty="0"/>
              <a:t>Some Adjective-forming suffixes </a:t>
            </a:r>
          </a:p>
        </p:txBody>
      </p:sp>
      <p:graphicFrame>
        <p:nvGraphicFramePr>
          <p:cNvPr id="5" name="Content Placeholder 4"/>
          <p:cNvGraphicFramePr>
            <a:graphicFrameLocks noGrp="1"/>
          </p:cNvGraphicFramePr>
          <p:nvPr>
            <p:ph idx="1"/>
          </p:nvPr>
        </p:nvGraphicFramePr>
        <p:xfrm>
          <a:off x="571472" y="2285992"/>
          <a:ext cx="8229600" cy="4275522"/>
        </p:xfrm>
        <a:graphic>
          <a:graphicData uri="http://schemas.openxmlformats.org/drawingml/2006/table">
            <a:tbl>
              <a:tblPr firstRow="1" bandRow="1">
                <a:tableStyleId>{5C22544A-7EE6-4342-B048-85BDC9FD1C3A}</a:tableStyleId>
              </a:tblPr>
              <a:tblGrid>
                <a:gridCol w="2114536">
                  <a:extLst>
                    <a:ext uri="{9D8B030D-6E8A-4147-A177-3AD203B41FA5}">
                      <a16:colId xmlns:a16="http://schemas.microsoft.com/office/drawing/2014/main" val="20000"/>
                    </a:ext>
                  </a:extLst>
                </a:gridCol>
                <a:gridCol w="6115064">
                  <a:extLst>
                    <a:ext uri="{9D8B030D-6E8A-4147-A177-3AD203B41FA5}">
                      <a16:colId xmlns:a16="http://schemas.microsoft.com/office/drawing/2014/main" val="20001"/>
                    </a:ext>
                  </a:extLst>
                </a:gridCol>
              </a:tblGrid>
              <a:tr h="39916">
                <a:tc>
                  <a:txBody>
                    <a:bodyPr/>
                    <a:lstStyle/>
                    <a:p>
                      <a:pPr indent="457200" algn="just">
                        <a:lnSpc>
                          <a:spcPct val="200000"/>
                        </a:lnSpc>
                        <a:spcAft>
                          <a:spcPts val="0"/>
                        </a:spcAft>
                      </a:pPr>
                      <a:r>
                        <a:rPr lang="en-GB" sz="1000" b="1" dirty="0">
                          <a:latin typeface="Times New Roman"/>
                          <a:ea typeface="Times New Roman"/>
                          <a:cs typeface="Times New Roman"/>
                        </a:rPr>
                        <a:t>Suffix</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b="1">
                          <a:latin typeface="Times New Roman"/>
                          <a:ea typeface="Times New Roman"/>
                          <a:cs typeface="Times New Roman"/>
                        </a:rPr>
                        <a:t>Examples</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r h="313122">
                <a:tc>
                  <a:txBody>
                    <a:bodyPr/>
                    <a:lstStyle/>
                    <a:p>
                      <a:pPr indent="457200">
                        <a:lnSpc>
                          <a:spcPct val="200000"/>
                        </a:lnSpc>
                        <a:spcAft>
                          <a:spcPts val="0"/>
                        </a:spcAft>
                      </a:pPr>
                      <a:r>
                        <a:rPr lang="en-GB" sz="1000">
                          <a:latin typeface="Times New Roman"/>
                          <a:ea typeface="Times New Roman"/>
                          <a:cs typeface="Times New Roman"/>
                        </a:rPr>
                        <a:t>-al</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Central, political, optional, professional</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1"/>
                  </a:ext>
                </a:extLst>
              </a:tr>
              <a:tr h="285752">
                <a:tc>
                  <a:txBody>
                    <a:bodyPr/>
                    <a:lstStyle/>
                    <a:p>
                      <a:pPr indent="457200" algn="just">
                        <a:lnSpc>
                          <a:spcPct val="200000"/>
                        </a:lnSpc>
                        <a:spcAft>
                          <a:spcPts val="0"/>
                        </a:spcAft>
                      </a:pPr>
                      <a:r>
                        <a:rPr lang="en-GB" sz="1000">
                          <a:latin typeface="Times New Roman"/>
                          <a:ea typeface="Times New Roman"/>
                          <a:cs typeface="Times New Roman"/>
                        </a:rPr>
                        <a:t>-ent/-ant</a:t>
                      </a:r>
                      <a:endParaRPr lang="en-GB" sz="900">
                        <a:latin typeface="Times New Roman"/>
                        <a:ea typeface="Times New Roman"/>
                        <a:cs typeface="Times New Roman"/>
                      </a:endParaRPr>
                    </a:p>
                  </a:txBody>
                  <a:tcPr marL="68580" marR="68580" marT="0" marB="0"/>
                </a:tc>
                <a:tc>
                  <a:txBody>
                    <a:bodyPr/>
                    <a:lstStyle/>
                    <a:p>
                      <a:pPr marL="0" marR="0" indent="457200" algn="just" defTabSz="914400" rtl="0" eaLnBrk="1" fontAlgn="auto" latinLnBrk="0" hangingPunct="1">
                        <a:lnSpc>
                          <a:spcPct val="200000"/>
                        </a:lnSpc>
                        <a:spcBef>
                          <a:spcPts val="0"/>
                        </a:spcBef>
                        <a:spcAft>
                          <a:spcPts val="0"/>
                        </a:spcAft>
                        <a:buClrTx/>
                        <a:buSzTx/>
                        <a:buFontTx/>
                        <a:buNone/>
                        <a:tabLst/>
                        <a:defRPr/>
                      </a:pPr>
                      <a:r>
                        <a:rPr lang="en-GB" sz="1000" dirty="0">
                          <a:latin typeface="Times New Roman"/>
                          <a:ea typeface="Times New Roman"/>
                          <a:cs typeface="Times New Roman"/>
                        </a:rPr>
                        <a:t>Different, dependent, excellent, effervescent, resistant, l</a:t>
                      </a:r>
                      <a:r>
                        <a:rPr lang="en-GB" sz="900" dirty="0">
                          <a:latin typeface="Times New Roman"/>
                          <a:ea typeface="Times New Roman"/>
                          <a:cs typeface="Times New Roman"/>
                        </a:rPr>
                        <a:t>uxuriant, radiant, incandescent, </a:t>
                      </a:r>
                    </a:p>
                  </a:txBody>
                  <a:tcPr marL="68580" marR="68580" marT="0" marB="0"/>
                </a:tc>
                <a:extLst>
                  <a:ext uri="{0D108BD9-81ED-4DB2-BD59-A6C34878D82A}">
                    <a16:rowId xmlns:a16="http://schemas.microsoft.com/office/drawing/2014/main" val="10002"/>
                  </a:ext>
                </a:extLst>
              </a:tr>
              <a:tr h="214314">
                <a:tc>
                  <a:txBody>
                    <a:bodyPr/>
                    <a:lstStyle/>
                    <a:p>
                      <a:pPr indent="457200" algn="just">
                        <a:lnSpc>
                          <a:spcPct val="200000"/>
                        </a:lnSpc>
                        <a:spcAft>
                          <a:spcPts val="0"/>
                        </a:spcAft>
                      </a:pPr>
                      <a:r>
                        <a:rPr lang="en-GB" sz="1000" dirty="0">
                          <a:latin typeface="Times New Roman"/>
                          <a:ea typeface="Times New Roman"/>
                          <a:cs typeface="Times New Roman"/>
                        </a:rPr>
                        <a:t>-</a:t>
                      </a:r>
                      <a:r>
                        <a:rPr lang="en-GB" sz="1000" dirty="0" err="1">
                          <a:latin typeface="Times New Roman"/>
                          <a:ea typeface="Times New Roman"/>
                          <a:cs typeface="Times New Roman"/>
                        </a:rPr>
                        <a:t>ic</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dirty="0">
                          <a:latin typeface="Times New Roman"/>
                          <a:ea typeface="Times New Roman"/>
                          <a:cs typeface="Times New Roman"/>
                        </a:rPr>
                        <a:t>nitric, historic, </a:t>
                      </a:r>
                      <a:endParaRPr lang="en-GB" sz="9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3"/>
                  </a:ext>
                </a:extLst>
              </a:tr>
              <a:tr h="241684">
                <a:tc>
                  <a:txBody>
                    <a:bodyPr/>
                    <a:lstStyle/>
                    <a:p>
                      <a:pPr indent="457200" algn="just">
                        <a:lnSpc>
                          <a:spcPct val="200000"/>
                        </a:lnSpc>
                        <a:spcAft>
                          <a:spcPts val="0"/>
                        </a:spcAft>
                      </a:pPr>
                      <a:r>
                        <a:rPr lang="en-GB" sz="1000" dirty="0">
                          <a:latin typeface="Times New Roman"/>
                          <a:ea typeface="Times New Roman"/>
                          <a:cs typeface="Times New Roman"/>
                        </a:rPr>
                        <a:t>-</a:t>
                      </a:r>
                      <a:r>
                        <a:rPr lang="en-GB" sz="1000" dirty="0" err="1">
                          <a:latin typeface="Times New Roman"/>
                          <a:ea typeface="Times New Roman"/>
                          <a:cs typeface="Times New Roman"/>
                        </a:rPr>
                        <a:t>ar</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Ocular, molecular</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4"/>
                  </a:ext>
                </a:extLst>
              </a:tr>
              <a:tr h="269054">
                <a:tc>
                  <a:txBody>
                    <a:bodyPr/>
                    <a:lstStyle/>
                    <a:p>
                      <a:pPr indent="457200" algn="just">
                        <a:lnSpc>
                          <a:spcPct val="200000"/>
                        </a:lnSpc>
                        <a:spcAft>
                          <a:spcPts val="0"/>
                        </a:spcAft>
                      </a:pPr>
                      <a:r>
                        <a:rPr lang="en-GB" sz="1000">
                          <a:latin typeface="Times New Roman"/>
                          <a:ea typeface="Times New Roman"/>
                          <a:cs typeface="Times New Roman"/>
                        </a:rPr>
                        <a:t>-ly, -y</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hourly, rascally, milky, leafy</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5"/>
                  </a:ext>
                </a:extLst>
              </a:tr>
              <a:tr h="285752">
                <a:tc>
                  <a:txBody>
                    <a:bodyPr/>
                    <a:lstStyle/>
                    <a:p>
                      <a:pPr indent="457200" algn="just">
                        <a:lnSpc>
                          <a:spcPct val="200000"/>
                        </a:lnSpc>
                        <a:spcAft>
                          <a:spcPts val="0"/>
                        </a:spcAft>
                      </a:pPr>
                      <a:r>
                        <a:rPr lang="en-GB" sz="1000" dirty="0">
                          <a:latin typeface="Times New Roman"/>
                          <a:ea typeface="Times New Roman"/>
                          <a:cs typeface="Times New Roman"/>
                        </a:rPr>
                        <a:t>-</a:t>
                      </a:r>
                      <a:r>
                        <a:rPr lang="en-GB" sz="1000" dirty="0" err="1">
                          <a:latin typeface="Times New Roman"/>
                          <a:ea typeface="Times New Roman"/>
                          <a:cs typeface="Times New Roman"/>
                        </a:rPr>
                        <a:t>ive</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Attractive, effective, imaginative, repetitive</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6"/>
                  </a:ext>
                </a:extLst>
              </a:tr>
              <a:tr h="214314">
                <a:tc>
                  <a:txBody>
                    <a:bodyPr/>
                    <a:lstStyle/>
                    <a:p>
                      <a:pPr indent="457200" algn="just">
                        <a:lnSpc>
                          <a:spcPct val="200000"/>
                        </a:lnSpc>
                        <a:spcAft>
                          <a:spcPts val="0"/>
                        </a:spcAft>
                      </a:pPr>
                      <a:r>
                        <a:rPr lang="en-GB" sz="1000" dirty="0">
                          <a:latin typeface="Times New Roman"/>
                          <a:ea typeface="Times New Roman"/>
                          <a:cs typeface="Times New Roman"/>
                        </a:rPr>
                        <a:t>-</a:t>
                      </a:r>
                      <a:r>
                        <a:rPr lang="en-GB" sz="1000" dirty="0" err="1">
                          <a:latin typeface="Times New Roman"/>
                          <a:ea typeface="Times New Roman"/>
                          <a:cs typeface="Times New Roman"/>
                        </a:rPr>
                        <a:t>ous</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Continuous, dangerous, famous</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7"/>
                  </a:ext>
                </a:extLst>
              </a:tr>
              <a:tr h="241684">
                <a:tc>
                  <a:txBody>
                    <a:bodyPr/>
                    <a:lstStyle/>
                    <a:p>
                      <a:pPr indent="457200" algn="just">
                        <a:lnSpc>
                          <a:spcPct val="200000"/>
                        </a:lnSpc>
                        <a:spcAft>
                          <a:spcPts val="0"/>
                        </a:spcAft>
                      </a:pPr>
                      <a:r>
                        <a:rPr lang="en-GB" sz="1000">
                          <a:latin typeface="Times New Roman"/>
                          <a:ea typeface="Times New Roman"/>
                          <a:cs typeface="Times New Roman"/>
                        </a:rPr>
                        <a:t>-ful</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Beautiful, peaceful, careful</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8"/>
                  </a:ext>
                </a:extLst>
              </a:tr>
              <a:tr h="269054">
                <a:tc>
                  <a:txBody>
                    <a:bodyPr/>
                    <a:lstStyle/>
                    <a:p>
                      <a:pPr indent="457200" algn="just">
                        <a:lnSpc>
                          <a:spcPct val="200000"/>
                        </a:lnSpc>
                        <a:spcAft>
                          <a:spcPts val="0"/>
                        </a:spcAft>
                      </a:pPr>
                      <a:r>
                        <a:rPr lang="en-GB" sz="1000">
                          <a:latin typeface="Times New Roman"/>
                          <a:ea typeface="Times New Roman"/>
                          <a:cs typeface="Times New Roman"/>
                        </a:rPr>
                        <a:t>-atory, -ory</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respiratory, congratulatory</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09"/>
                  </a:ext>
                </a:extLst>
              </a:tr>
              <a:tr h="285752">
                <a:tc>
                  <a:txBody>
                    <a:bodyPr/>
                    <a:lstStyle/>
                    <a:p>
                      <a:pPr indent="457200" algn="just">
                        <a:lnSpc>
                          <a:spcPct val="200000"/>
                        </a:lnSpc>
                        <a:spcAft>
                          <a:spcPts val="0"/>
                        </a:spcAft>
                      </a:pPr>
                      <a:r>
                        <a:rPr lang="en-GB" sz="1000" dirty="0">
                          <a:latin typeface="Times New Roman"/>
                          <a:ea typeface="Times New Roman"/>
                          <a:cs typeface="Times New Roman"/>
                        </a:rPr>
                        <a:t>-less</a:t>
                      </a:r>
                      <a:endParaRPr lang="en-GB" sz="9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Endless, homeless, careless, thoughtless</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10"/>
                  </a:ext>
                </a:extLst>
              </a:tr>
              <a:tr h="214314">
                <a:tc>
                  <a:txBody>
                    <a:bodyPr/>
                    <a:lstStyle/>
                    <a:p>
                      <a:pPr indent="457200" algn="just">
                        <a:lnSpc>
                          <a:spcPct val="200000"/>
                        </a:lnSpc>
                        <a:spcAft>
                          <a:spcPts val="0"/>
                        </a:spcAft>
                      </a:pPr>
                      <a:r>
                        <a:rPr lang="en-GB" sz="1000">
                          <a:latin typeface="Times New Roman"/>
                          <a:ea typeface="Times New Roman"/>
                          <a:cs typeface="Times New Roman"/>
                        </a:rPr>
                        <a:t>-able, -ible</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dirty="0">
                          <a:latin typeface="Times New Roman"/>
                          <a:ea typeface="Times New Roman"/>
                          <a:cs typeface="Times New Roman"/>
                        </a:rPr>
                        <a:t>Drinkable, countable, avoidable, flexible, audible</a:t>
                      </a:r>
                      <a:endParaRPr lang="en-GB" sz="900" dirty="0">
                        <a:latin typeface="Times New Roman"/>
                        <a:ea typeface="Times New Roman"/>
                        <a:cs typeface="Times New Roman"/>
                      </a:endParaRPr>
                    </a:p>
                  </a:txBody>
                  <a:tcPr marL="68580" marR="68580" marT="0" marB="0"/>
                </a:tc>
                <a:extLst>
                  <a:ext uri="{0D108BD9-81ED-4DB2-BD59-A6C34878D82A}">
                    <a16:rowId xmlns:a16="http://schemas.microsoft.com/office/drawing/2014/main" val="10011"/>
                  </a:ext>
                </a:extLst>
              </a:tr>
              <a:tr h="170246">
                <a:tc>
                  <a:txBody>
                    <a:bodyPr/>
                    <a:lstStyle/>
                    <a:p>
                      <a:pPr indent="457200" algn="just">
                        <a:lnSpc>
                          <a:spcPct val="200000"/>
                        </a:lnSpc>
                        <a:spcAft>
                          <a:spcPts val="0"/>
                        </a:spcAft>
                      </a:pPr>
                      <a:r>
                        <a:rPr lang="en-GB" sz="1000">
                          <a:latin typeface="Times New Roman"/>
                          <a:ea typeface="Times New Roman"/>
                          <a:cs typeface="Times New Roman"/>
                        </a:rPr>
                        <a:t>-ing</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a:latin typeface="Times New Roman"/>
                          <a:ea typeface="Times New Roman"/>
                          <a:cs typeface="Times New Roman"/>
                        </a:rPr>
                        <a:t>Ccooling, flowering</a:t>
                      </a:r>
                      <a:endParaRPr lang="en-GB" sz="900">
                        <a:latin typeface="Times New Roman"/>
                        <a:ea typeface="Times New Roman"/>
                        <a:cs typeface="Times New Roman"/>
                      </a:endParaRPr>
                    </a:p>
                  </a:txBody>
                  <a:tcPr marL="68580" marR="68580" marT="0" marB="0"/>
                </a:tc>
                <a:extLst>
                  <a:ext uri="{0D108BD9-81ED-4DB2-BD59-A6C34878D82A}">
                    <a16:rowId xmlns:a16="http://schemas.microsoft.com/office/drawing/2014/main" val="10012"/>
                  </a:ext>
                </a:extLst>
              </a:tr>
              <a:tr h="0">
                <a:tc>
                  <a:txBody>
                    <a:bodyPr/>
                    <a:lstStyle/>
                    <a:p>
                      <a:pPr indent="457200" algn="just">
                        <a:lnSpc>
                          <a:spcPct val="200000"/>
                        </a:lnSpc>
                        <a:spcAft>
                          <a:spcPts val="0"/>
                        </a:spcAft>
                      </a:pPr>
                      <a:r>
                        <a:rPr lang="en-GB" sz="1000">
                          <a:latin typeface="Times New Roman"/>
                          <a:ea typeface="Times New Roman"/>
                          <a:cs typeface="Times New Roman"/>
                        </a:rPr>
                        <a:t>-ed</a:t>
                      </a:r>
                      <a:endParaRPr lang="en-GB" sz="9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000" dirty="0">
                          <a:latin typeface="Times New Roman"/>
                          <a:ea typeface="Times New Roman"/>
                          <a:cs typeface="Times New Roman"/>
                        </a:rPr>
                        <a:t>Charged, laminated</a:t>
                      </a:r>
                      <a:endParaRPr lang="en-GB" sz="900" dirty="0">
                        <a:latin typeface="Times New Roman"/>
                        <a:ea typeface="Times New Roman"/>
                        <a:cs typeface="Times New Roman"/>
                      </a:endParaRPr>
                    </a:p>
                  </a:txBody>
                  <a:tcPr marL="68580" marR="68580" marT="0" marB="0"/>
                </a:tc>
                <a:extLst>
                  <a:ext uri="{0D108BD9-81ED-4DB2-BD59-A6C34878D82A}">
                    <a16:rowId xmlns:a16="http://schemas.microsoft.com/office/drawing/2014/main" val="1001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Adjective-forming prefixes</a:t>
            </a:r>
          </a:p>
        </p:txBody>
      </p:sp>
      <p:sp>
        <p:nvSpPr>
          <p:cNvPr id="3" name="Content Placeholder 2"/>
          <p:cNvSpPr>
            <a:spLocks noGrp="1"/>
          </p:cNvSpPr>
          <p:nvPr>
            <p:ph idx="1"/>
          </p:nvPr>
        </p:nvSpPr>
        <p:spPr/>
        <p:txBody>
          <a:bodyPr/>
          <a:lstStyle/>
          <a:p>
            <a:r>
              <a:rPr lang="en-GB" dirty="0"/>
              <a:t>New adjectives can </a:t>
            </a:r>
            <a:r>
              <a:rPr lang="yo-NG" dirty="0"/>
              <a:t>also</a:t>
            </a:r>
            <a:r>
              <a:rPr lang="en-GB" dirty="0"/>
              <a:t>be formed by adding a negative  prefix to an  adjective to derive another   adjective</a:t>
            </a:r>
          </a:p>
          <a:p>
            <a:endParaRPr lang="en-GB" dirty="0"/>
          </a:p>
        </p:txBody>
      </p:sp>
      <p:graphicFrame>
        <p:nvGraphicFramePr>
          <p:cNvPr id="5" name="Table 4"/>
          <p:cNvGraphicFramePr>
            <a:graphicFrameLocks noGrp="1"/>
          </p:cNvGraphicFramePr>
          <p:nvPr/>
        </p:nvGraphicFramePr>
        <p:xfrm>
          <a:off x="928662" y="3214685"/>
          <a:ext cx="6096000" cy="3202309"/>
        </p:xfrm>
        <a:graphic>
          <a:graphicData uri="http://schemas.openxmlformats.org/drawingml/2006/table">
            <a:tbl>
              <a:tblPr firstRow="1" bandRow="1">
                <a:tableStyleId>{5C22544A-7EE6-4342-B048-85BDC9FD1C3A}</a:tableStyleId>
              </a:tblPr>
              <a:tblGrid>
                <a:gridCol w="1571636">
                  <a:extLst>
                    <a:ext uri="{9D8B030D-6E8A-4147-A177-3AD203B41FA5}">
                      <a16:colId xmlns:a16="http://schemas.microsoft.com/office/drawing/2014/main" val="20000"/>
                    </a:ext>
                  </a:extLst>
                </a:gridCol>
                <a:gridCol w="4524364">
                  <a:extLst>
                    <a:ext uri="{9D8B030D-6E8A-4147-A177-3AD203B41FA5}">
                      <a16:colId xmlns:a16="http://schemas.microsoft.com/office/drawing/2014/main" val="20001"/>
                    </a:ext>
                  </a:extLst>
                </a:gridCol>
              </a:tblGrid>
              <a:tr h="428629">
                <a:tc>
                  <a:txBody>
                    <a:bodyPr/>
                    <a:lstStyle/>
                    <a:p>
                      <a:pPr indent="457200" algn="just">
                        <a:lnSpc>
                          <a:spcPct val="200000"/>
                        </a:lnSpc>
                        <a:spcAft>
                          <a:spcPts val="0"/>
                        </a:spcAft>
                      </a:pPr>
                      <a:r>
                        <a:rPr lang="en-GB" sz="1400" b="1" dirty="0">
                          <a:latin typeface="Times New Roman"/>
                          <a:ea typeface="Times New Roman"/>
                          <a:cs typeface="Times New Roman"/>
                        </a:rPr>
                        <a:t>Prefix</a:t>
                      </a:r>
                      <a:endParaRPr lang="en-GB" sz="14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1400" b="1">
                          <a:latin typeface="Times New Roman"/>
                          <a:ea typeface="Times New Roman"/>
                          <a:cs typeface="Times New Roman"/>
                        </a:rPr>
                        <a:t>Examples</a:t>
                      </a:r>
                      <a:endParaRPr lang="en-GB" sz="140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r h="196094">
                <a:tc>
                  <a:txBody>
                    <a:bodyPr/>
                    <a:lstStyle/>
                    <a:p>
                      <a:pPr indent="457200">
                        <a:lnSpc>
                          <a:spcPct val="200000"/>
                        </a:lnSpc>
                        <a:spcAft>
                          <a:spcPts val="0"/>
                        </a:spcAft>
                      </a:pPr>
                      <a:r>
                        <a:rPr lang="en-GB" sz="1400" dirty="0">
                          <a:latin typeface="Times New Roman"/>
                          <a:ea typeface="Times New Roman"/>
                          <a:cs typeface="Times New Roman"/>
                        </a:rPr>
                        <a:t>in-</a:t>
                      </a:r>
                    </a:p>
                  </a:txBody>
                  <a:tcPr marL="68580" marR="68580" marT="0" marB="0"/>
                </a:tc>
                <a:tc>
                  <a:txBody>
                    <a:bodyPr/>
                    <a:lstStyle/>
                    <a:p>
                      <a:pPr indent="457200">
                        <a:lnSpc>
                          <a:spcPct val="200000"/>
                        </a:lnSpc>
                        <a:spcAft>
                          <a:spcPts val="0"/>
                        </a:spcAft>
                      </a:pPr>
                      <a:r>
                        <a:rPr lang="en-GB" sz="1400" dirty="0">
                          <a:latin typeface="Times New Roman"/>
                          <a:ea typeface="Times New Roman"/>
                          <a:cs typeface="Times New Roman"/>
                        </a:rPr>
                        <a:t>Inconvenient, inoffensive, insensitive</a:t>
                      </a:r>
                    </a:p>
                  </a:txBody>
                  <a:tcPr marL="68580" marR="68580" marT="0" marB="0"/>
                </a:tc>
                <a:extLst>
                  <a:ext uri="{0D108BD9-81ED-4DB2-BD59-A6C34878D82A}">
                    <a16:rowId xmlns:a16="http://schemas.microsoft.com/office/drawing/2014/main" val="10001"/>
                  </a:ext>
                </a:extLst>
              </a:tr>
              <a:tr h="370840">
                <a:tc>
                  <a:txBody>
                    <a:bodyPr/>
                    <a:lstStyle/>
                    <a:p>
                      <a:pPr indent="457200">
                        <a:lnSpc>
                          <a:spcPct val="200000"/>
                        </a:lnSpc>
                        <a:spcAft>
                          <a:spcPts val="0"/>
                        </a:spcAft>
                      </a:pPr>
                      <a:r>
                        <a:rPr lang="en-GB" sz="1400">
                          <a:latin typeface="Times New Roman"/>
                          <a:ea typeface="Times New Roman"/>
                          <a:cs typeface="Times New Roman"/>
                        </a:rPr>
                        <a:t>im-</a:t>
                      </a:r>
                      <a:endParaRPr lang="en-GB" sz="1400" dirty="0">
                        <a:latin typeface="Times New Roman"/>
                        <a:ea typeface="Times New Roman"/>
                        <a:cs typeface="Times New Roman"/>
                      </a:endParaRPr>
                    </a:p>
                  </a:txBody>
                  <a:tcPr marL="68580" marR="68580" marT="0" marB="0"/>
                </a:tc>
                <a:tc>
                  <a:txBody>
                    <a:bodyPr/>
                    <a:lstStyle/>
                    <a:p>
                      <a:pPr indent="457200">
                        <a:lnSpc>
                          <a:spcPct val="200000"/>
                        </a:lnSpc>
                        <a:spcAft>
                          <a:spcPts val="0"/>
                        </a:spcAft>
                      </a:pPr>
                      <a:r>
                        <a:rPr lang="en-GB" sz="1400" dirty="0">
                          <a:latin typeface="Times New Roman"/>
                          <a:ea typeface="Times New Roman"/>
                          <a:cs typeface="Times New Roman"/>
                        </a:rPr>
                        <a:t>Immature, impatient, immobile</a:t>
                      </a:r>
                    </a:p>
                  </a:txBody>
                  <a:tcPr marL="68580" marR="68580" marT="0" marB="0"/>
                </a:tc>
                <a:extLst>
                  <a:ext uri="{0D108BD9-81ED-4DB2-BD59-A6C34878D82A}">
                    <a16:rowId xmlns:a16="http://schemas.microsoft.com/office/drawing/2014/main" val="10002"/>
                  </a:ext>
                </a:extLst>
              </a:tr>
              <a:tr h="177874">
                <a:tc>
                  <a:txBody>
                    <a:bodyPr/>
                    <a:lstStyle/>
                    <a:p>
                      <a:r>
                        <a:rPr lang="en-GB" sz="1400" dirty="0">
                          <a:latin typeface="Times New Roman"/>
                          <a:ea typeface="Times New Roman"/>
                          <a:cs typeface="Times New Roman"/>
                        </a:rPr>
                        <a:t>           </a:t>
                      </a:r>
                      <a:r>
                        <a:rPr lang="en-GB" sz="1400" dirty="0" err="1">
                          <a:latin typeface="Times New Roman"/>
                          <a:ea typeface="Times New Roman"/>
                          <a:cs typeface="Times New Roman"/>
                        </a:rPr>
                        <a:t>il</a:t>
                      </a:r>
                      <a:r>
                        <a:rPr lang="en-GB" sz="1400" dirty="0">
                          <a:latin typeface="Times New Roman"/>
                          <a:ea typeface="Times New Roman"/>
                          <a:cs typeface="Times New Roman"/>
                        </a:rPr>
                        <a:t>-</a:t>
                      </a:r>
                      <a:endParaRPr lang="en-GB" sz="1400" dirty="0"/>
                    </a:p>
                  </a:txBody>
                  <a:tcPr marL="68580" marR="68580" marT="0" marB="0"/>
                </a:tc>
                <a:tc>
                  <a:txBody>
                    <a:bodyPr/>
                    <a:lstStyle/>
                    <a:p>
                      <a:r>
                        <a:rPr lang="en-GB" sz="1400" dirty="0">
                          <a:latin typeface="Times New Roman"/>
                          <a:ea typeface="Times New Roman"/>
                          <a:cs typeface="Times New Roman"/>
                        </a:rPr>
                        <a:t>           illegal, illicit, illogical</a:t>
                      </a:r>
                      <a:endParaRPr lang="en-GB" sz="1400" dirty="0"/>
                    </a:p>
                  </a:txBody>
                  <a:tcPr marL="68580" marR="68580" marT="0" marB="0"/>
                </a:tc>
                <a:extLst>
                  <a:ext uri="{0D108BD9-81ED-4DB2-BD59-A6C34878D82A}">
                    <a16:rowId xmlns:a16="http://schemas.microsoft.com/office/drawing/2014/main" val="10003"/>
                  </a:ext>
                </a:extLst>
              </a:tr>
              <a:tr h="370840">
                <a:tc>
                  <a:txBody>
                    <a:bodyPr/>
                    <a:lstStyle/>
                    <a:p>
                      <a:pPr indent="457200">
                        <a:lnSpc>
                          <a:spcPct val="200000"/>
                        </a:lnSpc>
                        <a:spcAft>
                          <a:spcPts val="0"/>
                        </a:spcAft>
                      </a:pPr>
                      <a:r>
                        <a:rPr lang="en-GB" sz="1400" dirty="0" err="1">
                          <a:latin typeface="Times New Roman"/>
                          <a:ea typeface="Times New Roman"/>
                          <a:cs typeface="Times New Roman"/>
                        </a:rPr>
                        <a:t>ir</a:t>
                      </a:r>
                      <a:r>
                        <a:rPr lang="en-GB" sz="1400" dirty="0">
                          <a:latin typeface="Times New Roman"/>
                          <a:ea typeface="Times New Roman"/>
                          <a:cs typeface="Times New Roman"/>
                        </a:rPr>
                        <a:t>-</a:t>
                      </a:r>
                    </a:p>
                  </a:txBody>
                  <a:tcPr marL="68580" marR="68580" marT="0" marB="0"/>
                </a:tc>
                <a:tc>
                  <a:txBody>
                    <a:bodyPr/>
                    <a:lstStyle/>
                    <a:p>
                      <a:pPr indent="457200">
                        <a:lnSpc>
                          <a:spcPct val="200000"/>
                        </a:lnSpc>
                        <a:spcAft>
                          <a:spcPts val="0"/>
                        </a:spcAft>
                      </a:pPr>
                      <a:r>
                        <a:rPr lang="en-GB" sz="1400" dirty="0">
                          <a:latin typeface="Times New Roman"/>
                          <a:ea typeface="Times New Roman"/>
                          <a:cs typeface="Times New Roman"/>
                        </a:rPr>
                        <a:t>Irrational, irregular, irreplaceable, </a:t>
                      </a:r>
                    </a:p>
                  </a:txBody>
                  <a:tcPr marL="68580" marR="68580" marT="0" marB="0"/>
                </a:tc>
                <a:extLst>
                  <a:ext uri="{0D108BD9-81ED-4DB2-BD59-A6C34878D82A}">
                    <a16:rowId xmlns:a16="http://schemas.microsoft.com/office/drawing/2014/main" val="10004"/>
                  </a:ext>
                </a:extLst>
              </a:tr>
              <a:tr h="370840">
                <a:tc>
                  <a:txBody>
                    <a:bodyPr/>
                    <a:lstStyle/>
                    <a:p>
                      <a:pPr indent="457200">
                        <a:lnSpc>
                          <a:spcPct val="200000"/>
                        </a:lnSpc>
                        <a:spcAft>
                          <a:spcPts val="0"/>
                        </a:spcAft>
                      </a:pPr>
                      <a:r>
                        <a:rPr lang="en-GB" sz="1400" dirty="0">
                          <a:latin typeface="Times New Roman"/>
                          <a:ea typeface="Times New Roman"/>
                          <a:cs typeface="Times New Roman"/>
                        </a:rPr>
                        <a:t>un-</a:t>
                      </a:r>
                    </a:p>
                  </a:txBody>
                  <a:tcPr marL="68580" marR="68580" marT="0" marB="0"/>
                </a:tc>
                <a:tc>
                  <a:txBody>
                    <a:bodyPr/>
                    <a:lstStyle/>
                    <a:p>
                      <a:pPr indent="457200">
                        <a:lnSpc>
                          <a:spcPct val="200000"/>
                        </a:lnSpc>
                        <a:spcAft>
                          <a:spcPts val="0"/>
                        </a:spcAft>
                      </a:pPr>
                      <a:r>
                        <a:rPr lang="en-GB" sz="1400" dirty="0">
                          <a:latin typeface="Times New Roman"/>
                          <a:ea typeface="Times New Roman"/>
                          <a:cs typeface="Times New Roman"/>
                        </a:rPr>
                        <a:t>Unfortunate, uncomfortable, unjust</a:t>
                      </a:r>
                    </a:p>
                  </a:txBody>
                  <a:tcPr marL="68580" marR="68580" marT="0" marB="0"/>
                </a:tc>
                <a:extLst>
                  <a:ext uri="{0D108BD9-81ED-4DB2-BD59-A6C34878D82A}">
                    <a16:rowId xmlns:a16="http://schemas.microsoft.com/office/drawing/2014/main" val="10005"/>
                  </a:ext>
                </a:extLst>
              </a:tr>
              <a:tr h="165178">
                <a:tc>
                  <a:txBody>
                    <a:bodyPr/>
                    <a:lstStyle/>
                    <a:p>
                      <a:pPr indent="457200" algn="just">
                        <a:lnSpc>
                          <a:spcPct val="200000"/>
                        </a:lnSpc>
                        <a:spcAft>
                          <a:spcPts val="0"/>
                        </a:spcAft>
                      </a:pPr>
                      <a:r>
                        <a:rPr lang="en-GB" sz="1400" dirty="0">
                          <a:latin typeface="Times New Roman"/>
                          <a:ea typeface="Times New Roman"/>
                          <a:cs typeface="Times New Roman"/>
                        </a:rPr>
                        <a:t>non-</a:t>
                      </a:r>
                    </a:p>
                  </a:txBody>
                  <a:tcPr marL="68580" marR="68580" marT="0" marB="0"/>
                </a:tc>
                <a:tc>
                  <a:txBody>
                    <a:bodyPr/>
                    <a:lstStyle/>
                    <a:p>
                      <a:pPr indent="457200" algn="just">
                        <a:lnSpc>
                          <a:spcPct val="200000"/>
                        </a:lnSpc>
                        <a:spcAft>
                          <a:spcPts val="0"/>
                        </a:spcAft>
                      </a:pPr>
                      <a:r>
                        <a:rPr lang="en-GB" sz="1400" dirty="0">
                          <a:latin typeface="Times New Roman"/>
                          <a:ea typeface="Times New Roman"/>
                          <a:cs typeface="Times New Roman"/>
                        </a:rPr>
                        <a:t>Non-fiction, non-political, non-neutral</a:t>
                      </a:r>
                    </a:p>
                  </a:txBody>
                  <a:tcPr marL="68580" marR="68580" marT="0" marB="0"/>
                </a:tc>
                <a:extLst>
                  <a:ext uri="{0D108BD9-81ED-4DB2-BD59-A6C34878D82A}">
                    <a16:rowId xmlns:a16="http://schemas.microsoft.com/office/drawing/2014/main" val="10006"/>
                  </a:ext>
                </a:extLst>
              </a:tr>
              <a:tr h="232046">
                <a:tc>
                  <a:txBody>
                    <a:bodyPr/>
                    <a:lstStyle/>
                    <a:p>
                      <a:pPr indent="457200" algn="just">
                        <a:lnSpc>
                          <a:spcPct val="200000"/>
                        </a:lnSpc>
                        <a:spcAft>
                          <a:spcPts val="0"/>
                        </a:spcAft>
                      </a:pPr>
                      <a:r>
                        <a:rPr lang="en-GB" sz="1400" dirty="0" err="1">
                          <a:latin typeface="Times New Roman"/>
                          <a:ea typeface="Times New Roman"/>
                          <a:cs typeface="Times New Roman"/>
                        </a:rPr>
                        <a:t>dis</a:t>
                      </a:r>
                      <a:r>
                        <a:rPr lang="en-GB" sz="1400" dirty="0">
                          <a:latin typeface="Times New Roman"/>
                          <a:ea typeface="Times New Roman"/>
                          <a:cs typeface="Times New Roman"/>
                        </a:rPr>
                        <a:t>-</a:t>
                      </a:r>
                    </a:p>
                  </a:txBody>
                  <a:tcPr marL="68580" marR="68580" marT="0" marB="0"/>
                </a:tc>
                <a:tc>
                  <a:txBody>
                    <a:bodyPr/>
                    <a:lstStyle/>
                    <a:p>
                      <a:pPr indent="457200" algn="just">
                        <a:lnSpc>
                          <a:spcPct val="200000"/>
                        </a:lnSpc>
                        <a:spcAft>
                          <a:spcPts val="0"/>
                        </a:spcAft>
                      </a:pPr>
                      <a:r>
                        <a:rPr lang="en-GB" sz="1400" dirty="0">
                          <a:latin typeface="Times New Roman"/>
                          <a:ea typeface="Times New Roman"/>
                          <a:cs typeface="Times New Roman"/>
                        </a:rPr>
                        <a:t>Disloyal, dissimilar, dishonest</a:t>
                      </a:r>
                    </a:p>
                  </a:txBody>
                  <a:tcPr marL="68580" marR="6858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Some Adverb-forming suffixes </a:t>
            </a:r>
          </a:p>
        </p:txBody>
      </p:sp>
      <p:graphicFrame>
        <p:nvGraphicFramePr>
          <p:cNvPr id="5" name="Content Placeholder 4"/>
          <p:cNvGraphicFramePr>
            <a:graphicFrameLocks noGrp="1"/>
          </p:cNvGraphicFramePr>
          <p:nvPr>
            <p:ph idx="1"/>
          </p:nvPr>
        </p:nvGraphicFramePr>
        <p:xfrm>
          <a:off x="457200" y="1935163"/>
          <a:ext cx="8229600" cy="3048000"/>
        </p:xfrm>
        <a:graphic>
          <a:graphicData uri="http://schemas.openxmlformats.org/drawingml/2006/table">
            <a:tbl>
              <a:tblPr firstRow="1" bandRow="1">
                <a:tableStyleId>{5C22544A-7EE6-4342-B048-85BDC9FD1C3A}</a:tableStyleId>
              </a:tblPr>
              <a:tblGrid>
                <a:gridCol w="1543032">
                  <a:extLst>
                    <a:ext uri="{9D8B030D-6E8A-4147-A177-3AD203B41FA5}">
                      <a16:colId xmlns:a16="http://schemas.microsoft.com/office/drawing/2014/main" val="20000"/>
                    </a:ext>
                  </a:extLst>
                </a:gridCol>
                <a:gridCol w="6686568">
                  <a:extLst>
                    <a:ext uri="{9D8B030D-6E8A-4147-A177-3AD203B41FA5}">
                      <a16:colId xmlns:a16="http://schemas.microsoft.com/office/drawing/2014/main" val="20001"/>
                    </a:ext>
                  </a:extLst>
                </a:gridCol>
              </a:tblGrid>
              <a:tr h="370840">
                <a:tc>
                  <a:txBody>
                    <a:bodyPr/>
                    <a:lstStyle/>
                    <a:p>
                      <a:pPr indent="457200" algn="just">
                        <a:lnSpc>
                          <a:spcPct val="200000"/>
                        </a:lnSpc>
                        <a:spcAft>
                          <a:spcPts val="0"/>
                        </a:spcAft>
                      </a:pPr>
                      <a:r>
                        <a:rPr lang="en-GB" sz="2000" b="1" dirty="0">
                          <a:latin typeface="Times New Roman"/>
                          <a:ea typeface="Times New Roman"/>
                          <a:cs typeface="Times New Roman"/>
                        </a:rPr>
                        <a:t>Prefix</a:t>
                      </a:r>
                      <a:endParaRPr lang="en-GB" sz="1800" dirty="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2000" b="1">
                          <a:latin typeface="Times New Roman"/>
                          <a:ea typeface="Times New Roman"/>
                          <a:cs typeface="Times New Roman"/>
                        </a:rPr>
                        <a:t>Examples</a:t>
                      </a:r>
                      <a:endParaRPr lang="en-GB" sz="1800">
                        <a:latin typeface="Times New Roman"/>
                        <a:ea typeface="Times New Roman"/>
                        <a:cs typeface="Times New Roman"/>
                      </a:endParaRPr>
                    </a:p>
                  </a:txBody>
                  <a:tcPr marL="68580" marR="68580" marT="0" marB="0"/>
                </a:tc>
                <a:extLst>
                  <a:ext uri="{0D108BD9-81ED-4DB2-BD59-A6C34878D82A}">
                    <a16:rowId xmlns:a16="http://schemas.microsoft.com/office/drawing/2014/main" val="10000"/>
                  </a:ext>
                </a:extLst>
              </a:tr>
              <a:tr h="370840">
                <a:tc>
                  <a:txBody>
                    <a:bodyPr/>
                    <a:lstStyle/>
                    <a:p>
                      <a:pPr indent="457200">
                        <a:lnSpc>
                          <a:spcPct val="200000"/>
                        </a:lnSpc>
                        <a:spcAft>
                          <a:spcPts val="0"/>
                        </a:spcAft>
                      </a:pPr>
                      <a:r>
                        <a:rPr lang="en-GB" sz="2000">
                          <a:latin typeface="Times New Roman"/>
                          <a:ea typeface="Times New Roman"/>
                          <a:cs typeface="Times New Roman"/>
                        </a:rPr>
                        <a:t>-ly	</a:t>
                      </a:r>
                      <a:endParaRPr lang="en-GB" sz="1800">
                        <a:latin typeface="Times New Roman"/>
                        <a:ea typeface="Times New Roman"/>
                        <a:cs typeface="Times New Roman"/>
                      </a:endParaRPr>
                    </a:p>
                  </a:txBody>
                  <a:tcPr marL="68580" marR="68580" marT="0" marB="0"/>
                </a:tc>
                <a:tc>
                  <a:txBody>
                    <a:bodyPr/>
                    <a:lstStyle/>
                    <a:p>
                      <a:pPr indent="457200">
                        <a:lnSpc>
                          <a:spcPct val="200000"/>
                        </a:lnSpc>
                        <a:spcAft>
                          <a:spcPts val="0"/>
                        </a:spcAft>
                      </a:pPr>
                      <a:r>
                        <a:rPr lang="en-GB" sz="2000" dirty="0">
                          <a:latin typeface="Times New Roman"/>
                          <a:ea typeface="Times New Roman"/>
                          <a:cs typeface="Times New Roman"/>
                        </a:rPr>
                        <a:t>softly, quickly, briefly, monthly</a:t>
                      </a:r>
                      <a:endParaRPr lang="en-GB" sz="18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457200">
                        <a:lnSpc>
                          <a:spcPct val="200000"/>
                        </a:lnSpc>
                        <a:spcAft>
                          <a:spcPts val="0"/>
                        </a:spcAft>
                      </a:pPr>
                      <a:r>
                        <a:rPr lang="en-GB" sz="2000">
                          <a:latin typeface="Times New Roman"/>
                          <a:ea typeface="Times New Roman"/>
                          <a:cs typeface="Times New Roman"/>
                        </a:rPr>
                        <a:t>-ally</a:t>
                      </a:r>
                      <a:endParaRPr lang="en-GB" sz="1800">
                        <a:latin typeface="Times New Roman"/>
                        <a:ea typeface="Times New Roman"/>
                        <a:cs typeface="Times New Roman"/>
                      </a:endParaRPr>
                    </a:p>
                  </a:txBody>
                  <a:tcPr marL="68580" marR="68580" marT="0" marB="0"/>
                </a:tc>
                <a:tc>
                  <a:txBody>
                    <a:bodyPr/>
                    <a:lstStyle/>
                    <a:p>
                      <a:pPr indent="457200">
                        <a:lnSpc>
                          <a:spcPct val="200000"/>
                        </a:lnSpc>
                        <a:spcAft>
                          <a:spcPts val="0"/>
                        </a:spcAft>
                      </a:pPr>
                      <a:r>
                        <a:rPr lang="en-GB" sz="2000" dirty="0">
                          <a:latin typeface="Times New Roman"/>
                          <a:ea typeface="Times New Roman"/>
                          <a:cs typeface="Times New Roman"/>
                        </a:rPr>
                        <a:t>specifically, spasmodically</a:t>
                      </a:r>
                      <a:endParaRPr lang="en-GB" sz="18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457200" algn="just">
                        <a:lnSpc>
                          <a:spcPct val="200000"/>
                        </a:lnSpc>
                        <a:spcAft>
                          <a:spcPts val="0"/>
                        </a:spcAft>
                      </a:pPr>
                      <a:r>
                        <a:rPr lang="en-GB" sz="2000">
                          <a:latin typeface="Times New Roman"/>
                          <a:ea typeface="Times New Roman"/>
                          <a:cs typeface="Times New Roman"/>
                        </a:rPr>
                        <a:t>-wards</a:t>
                      </a:r>
                      <a:endParaRPr lang="en-GB" sz="18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2000" dirty="0">
                          <a:latin typeface="Times New Roman"/>
                          <a:ea typeface="Times New Roman"/>
                          <a:cs typeface="Times New Roman"/>
                        </a:rPr>
                        <a:t>earthwards, northwards</a:t>
                      </a:r>
                      <a:endParaRPr lang="en-GB" sz="18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indent="457200" algn="just">
                        <a:lnSpc>
                          <a:spcPct val="200000"/>
                        </a:lnSpc>
                        <a:spcAft>
                          <a:spcPts val="0"/>
                        </a:spcAft>
                      </a:pPr>
                      <a:r>
                        <a:rPr lang="en-GB" sz="2000">
                          <a:latin typeface="Times New Roman"/>
                          <a:ea typeface="Times New Roman"/>
                          <a:cs typeface="Times New Roman"/>
                        </a:rPr>
                        <a:t>-wise</a:t>
                      </a:r>
                      <a:endParaRPr lang="en-GB" sz="1800">
                        <a:latin typeface="Times New Roman"/>
                        <a:ea typeface="Times New Roman"/>
                        <a:cs typeface="Times New Roman"/>
                      </a:endParaRPr>
                    </a:p>
                  </a:txBody>
                  <a:tcPr marL="68580" marR="68580" marT="0" marB="0"/>
                </a:tc>
                <a:tc>
                  <a:txBody>
                    <a:bodyPr/>
                    <a:lstStyle/>
                    <a:p>
                      <a:pPr indent="457200" algn="just">
                        <a:lnSpc>
                          <a:spcPct val="200000"/>
                        </a:lnSpc>
                        <a:spcAft>
                          <a:spcPts val="0"/>
                        </a:spcAft>
                      </a:pPr>
                      <a:r>
                        <a:rPr lang="en-GB" sz="2000" dirty="0">
                          <a:latin typeface="Times New Roman"/>
                          <a:ea typeface="Times New Roman"/>
                          <a:cs typeface="Times New Roman"/>
                        </a:rPr>
                        <a:t>crosswise, lengthwise</a:t>
                      </a:r>
                      <a:endParaRPr lang="en-GB" sz="1800" dirty="0">
                        <a:latin typeface="Times New Roman"/>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Compounding </a:t>
            </a:r>
          </a:p>
        </p:txBody>
      </p:sp>
      <p:sp>
        <p:nvSpPr>
          <p:cNvPr id="3" name="Content Placeholder 2"/>
          <p:cNvSpPr>
            <a:spLocks noGrp="1"/>
          </p:cNvSpPr>
          <p:nvPr>
            <p:ph idx="1"/>
          </p:nvPr>
        </p:nvSpPr>
        <p:spPr/>
        <p:txBody>
          <a:bodyPr/>
          <a:lstStyle/>
          <a:p>
            <a:pPr algn="just"/>
            <a:r>
              <a:rPr lang="en-GB" dirty="0"/>
              <a:t>Compounding is the joining of two or more free morphemes to form one word. The morphemes may be separated by space e.g. carbon (iv) oxide, joined by a hyphen e.g. stage-manage, or written together e.g. airlift. Many combinations of parts of speech are possible: noun + noun, noun + adjective, verb + preposition etc.</a:t>
            </a:r>
          </a:p>
          <a:p>
            <a:pPr algn="just"/>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sz="5400" b="1" dirty="0"/>
              <a:t>Compound nouns</a:t>
            </a:r>
            <a:endParaRPr lang="en-US" dirty="0"/>
          </a:p>
        </p:txBody>
      </p:sp>
      <p:sp>
        <p:nvSpPr>
          <p:cNvPr id="3" name="Content Placeholder 2"/>
          <p:cNvSpPr>
            <a:spLocks noGrp="1"/>
          </p:cNvSpPr>
          <p:nvPr>
            <p:ph idx="1"/>
          </p:nvPr>
        </p:nvSpPr>
        <p:spPr>
          <a:xfrm>
            <a:off x="457200" y="1935163"/>
            <a:ext cx="8507288" cy="4389437"/>
          </a:xfrm>
        </p:spPr>
        <p:txBody>
          <a:bodyPr/>
          <a:lstStyle/>
          <a:p>
            <a:r>
              <a:rPr lang="en-GB" sz="2800" b="1" dirty="0"/>
              <a:t>Noun – noun combination</a:t>
            </a:r>
          </a:p>
          <a:p>
            <a:pPr lvl="1"/>
            <a:r>
              <a:rPr lang="en-GB" sz="2800" dirty="0">
                <a:solidFill>
                  <a:srgbClr val="FF0000"/>
                </a:solidFill>
              </a:rPr>
              <a:t>airport, sodium chloride</a:t>
            </a:r>
            <a:r>
              <a:rPr lang="yo-NG" sz="2800" dirty="0">
                <a:solidFill>
                  <a:srgbClr val="FF0000"/>
                </a:solidFill>
              </a:rPr>
              <a:t>, </a:t>
            </a:r>
            <a:r>
              <a:rPr lang="en-GB" sz="2800" dirty="0">
                <a:solidFill>
                  <a:srgbClr val="FF0000"/>
                </a:solidFill>
              </a:rPr>
              <a:t>classroom,    workstation, tapeworm, crankshaft, textbook</a:t>
            </a:r>
          </a:p>
          <a:p>
            <a:r>
              <a:rPr lang="en-GB" sz="2800" b="1" dirty="0"/>
              <a:t>Verb – noun combination:     </a:t>
            </a:r>
          </a:p>
          <a:p>
            <a:pPr lvl="1"/>
            <a:r>
              <a:rPr lang="en-GB" sz="2800" dirty="0">
                <a:solidFill>
                  <a:srgbClr val="FF0000"/>
                </a:solidFill>
              </a:rPr>
              <a:t>typewriter, carrycot, pickpocket</a:t>
            </a:r>
          </a:p>
          <a:p>
            <a:r>
              <a:rPr lang="en-GB" sz="2800" b="1" dirty="0"/>
              <a:t>Preposition – noun combination:         </a:t>
            </a:r>
          </a:p>
          <a:p>
            <a:pPr lvl="1"/>
            <a:r>
              <a:rPr lang="en-GB" sz="2800" dirty="0">
                <a:solidFill>
                  <a:srgbClr val="FF0000"/>
                </a:solidFill>
              </a:rPr>
              <a:t>overview, oversight, undergraduate </a:t>
            </a:r>
          </a:p>
          <a:p>
            <a:pPr marL="393700" lvl="1" indent="0">
              <a:buNone/>
            </a:pPr>
            <a:r>
              <a:rPr lang="en-GB" sz="2800" dirty="0">
                <a:solidFill>
                  <a:srgbClr val="FF0000"/>
                </a:solidFill>
              </a:rPr>
              <a:t>   </a:t>
            </a:r>
            <a:r>
              <a:rPr lang="yo-NG" sz="2800" dirty="0">
                <a:solidFill>
                  <a:srgbClr val="FF0000"/>
                </a:solidFill>
              </a:rPr>
              <a:t>u</a:t>
            </a:r>
            <a:r>
              <a:rPr lang="en-GB" sz="2800" dirty="0" err="1">
                <a:solidFill>
                  <a:srgbClr val="FF0000"/>
                </a:solidFill>
              </a:rPr>
              <a:t>nder</a:t>
            </a:r>
            <a:r>
              <a:rPr lang="en-GB" sz="2800" dirty="0">
                <a:solidFill>
                  <a:srgbClr val="FF0000"/>
                </a:solidFill>
              </a:rPr>
              <a:t>-development             </a:t>
            </a:r>
          </a:p>
          <a:p>
            <a:endParaRPr lang="en-GB" sz="2800" dirty="0"/>
          </a:p>
          <a:p>
            <a:pPr marL="0" indent="0">
              <a:buNone/>
            </a:pPr>
            <a:r>
              <a:rPr lang="en-GB" sz="2800" dirty="0"/>
              <a:t> </a:t>
            </a:r>
          </a:p>
          <a:p>
            <a:endParaRPr lang="en-GB" dirty="0"/>
          </a:p>
          <a:p>
            <a:endParaRPr lang="en-US" dirty="0"/>
          </a:p>
        </p:txBody>
      </p:sp>
    </p:spTree>
    <p:extLst>
      <p:ext uri="{BB962C8B-B14F-4D97-AF65-F5344CB8AC3E}">
        <p14:creationId xmlns:p14="http://schemas.microsoft.com/office/powerpoint/2010/main" val="4107427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923950"/>
          </a:xfrm>
        </p:spPr>
        <p:txBody>
          <a:bodyPr/>
          <a:lstStyle/>
          <a:p>
            <a:r>
              <a:rPr lang="en-GB" sz="5400" b="1" dirty="0"/>
              <a:t>Compound adjectives</a:t>
            </a:r>
            <a:endParaRPr lang="en-US" dirty="0"/>
          </a:p>
        </p:txBody>
      </p:sp>
      <p:sp>
        <p:nvSpPr>
          <p:cNvPr id="3" name="Content Placeholder 2"/>
          <p:cNvSpPr>
            <a:spLocks noGrp="1"/>
          </p:cNvSpPr>
          <p:nvPr>
            <p:ph idx="1"/>
          </p:nvPr>
        </p:nvSpPr>
        <p:spPr>
          <a:xfrm>
            <a:off x="395536" y="1772816"/>
            <a:ext cx="8229600" cy="4608512"/>
          </a:xfrm>
        </p:spPr>
        <p:txBody>
          <a:bodyPr/>
          <a:lstStyle/>
          <a:p>
            <a:r>
              <a:rPr lang="en-GB" sz="2400" b="1" dirty="0"/>
              <a:t>Noun – verb combination: </a:t>
            </a:r>
          </a:p>
          <a:p>
            <a:pPr lvl="1"/>
            <a:r>
              <a:rPr lang="en-GB" dirty="0">
                <a:solidFill>
                  <a:srgbClr val="FF0000"/>
                </a:solidFill>
              </a:rPr>
              <a:t>water borne, value-added,  rocket –propelled. </a:t>
            </a:r>
          </a:p>
          <a:p>
            <a:r>
              <a:rPr lang="en-GB" sz="2400" b="1" dirty="0"/>
              <a:t>Noun – adjective combination: </a:t>
            </a:r>
          </a:p>
          <a:p>
            <a:pPr lvl="1"/>
            <a:r>
              <a:rPr lang="en-GB" dirty="0">
                <a:solidFill>
                  <a:srgbClr val="FF0000"/>
                </a:solidFill>
              </a:rPr>
              <a:t>water-</a:t>
            </a:r>
            <a:r>
              <a:rPr lang="en-GB" dirty="0" err="1">
                <a:solidFill>
                  <a:srgbClr val="FF0000"/>
                </a:solidFill>
              </a:rPr>
              <a:t>repellant</a:t>
            </a:r>
            <a:r>
              <a:rPr lang="en-GB" dirty="0">
                <a:solidFill>
                  <a:srgbClr val="FF0000"/>
                </a:solidFill>
              </a:rPr>
              <a:t>, air -tight, bulletproof </a:t>
            </a:r>
          </a:p>
          <a:p>
            <a:r>
              <a:rPr lang="en-GB" sz="2400" b="1" dirty="0"/>
              <a:t>Preposition – noun (phrase) combinations</a:t>
            </a:r>
            <a:r>
              <a:rPr lang="en-GB" sz="2400" dirty="0"/>
              <a:t>: 	</a:t>
            </a:r>
          </a:p>
          <a:p>
            <a:pPr lvl="1"/>
            <a:r>
              <a:rPr lang="en-GB" dirty="0">
                <a:solidFill>
                  <a:srgbClr val="FF0000"/>
                </a:solidFill>
              </a:rPr>
              <a:t>off-the-record, over- the-counter </a:t>
            </a:r>
          </a:p>
          <a:p>
            <a:r>
              <a:rPr lang="en-GB" sz="2400" b="1" dirty="0"/>
              <a:t>Preposition – adjective combination:	 </a:t>
            </a:r>
          </a:p>
          <a:p>
            <a:pPr lvl="1"/>
            <a:r>
              <a:rPr lang="en-GB" dirty="0"/>
              <a:t>off-white </a:t>
            </a:r>
          </a:p>
          <a:p>
            <a:r>
              <a:rPr lang="en-GB" sz="2400" b="1" dirty="0"/>
              <a:t>Adjective – noun combination: 		</a:t>
            </a:r>
          </a:p>
          <a:p>
            <a:pPr lvl="1"/>
            <a:r>
              <a:rPr lang="en-GB" dirty="0">
                <a:solidFill>
                  <a:srgbClr val="FF0000"/>
                </a:solidFill>
              </a:rPr>
              <a:t>full-time, long –term .</a:t>
            </a:r>
          </a:p>
          <a:p>
            <a:endParaRPr lang="en-US" dirty="0"/>
          </a:p>
        </p:txBody>
      </p:sp>
    </p:spTree>
    <p:extLst>
      <p:ext uri="{BB962C8B-B14F-4D97-AF65-F5344CB8AC3E}">
        <p14:creationId xmlns:p14="http://schemas.microsoft.com/office/powerpoint/2010/main" val="2924319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707926"/>
          </a:xfrm>
        </p:spPr>
        <p:txBody>
          <a:bodyPr/>
          <a:lstStyle/>
          <a:p>
            <a:r>
              <a:rPr lang="en-US" sz="5400" b="1" dirty="0"/>
              <a:t>Compound adverbs </a:t>
            </a:r>
            <a:endParaRPr lang="en-US" dirty="0"/>
          </a:p>
        </p:txBody>
      </p:sp>
      <p:sp>
        <p:nvSpPr>
          <p:cNvPr id="3" name="Content Placeholder 2"/>
          <p:cNvSpPr>
            <a:spLocks noGrp="1"/>
          </p:cNvSpPr>
          <p:nvPr>
            <p:ph idx="1"/>
          </p:nvPr>
        </p:nvSpPr>
        <p:spPr>
          <a:xfrm>
            <a:off x="457200" y="1412776"/>
            <a:ext cx="8229600" cy="5184575"/>
          </a:xfrm>
        </p:spPr>
        <p:txBody>
          <a:bodyPr/>
          <a:lstStyle/>
          <a:p>
            <a:r>
              <a:rPr lang="en-GB" sz="2400" dirty="0"/>
              <a:t>Compound Adverbs</a:t>
            </a:r>
          </a:p>
          <a:p>
            <a:pPr lvl="1"/>
            <a:r>
              <a:rPr lang="en-GB" sz="2200" dirty="0"/>
              <a:t>moreover, </a:t>
            </a:r>
          </a:p>
          <a:p>
            <a:pPr lvl="1"/>
            <a:r>
              <a:rPr lang="en-GB" sz="2200" dirty="0"/>
              <a:t>However</a:t>
            </a:r>
          </a:p>
          <a:p>
            <a:pPr lvl="1"/>
            <a:r>
              <a:rPr lang="en-GB" sz="2200" dirty="0"/>
              <a:t>nonetheless, </a:t>
            </a:r>
          </a:p>
          <a:p>
            <a:pPr lvl="1"/>
            <a:r>
              <a:rPr lang="en-GB" sz="2200" dirty="0"/>
              <a:t>furthermore, </a:t>
            </a:r>
          </a:p>
          <a:p>
            <a:pPr lvl="1"/>
            <a:r>
              <a:rPr lang="en-GB" sz="2200" dirty="0"/>
              <a:t>meanwhile           </a:t>
            </a:r>
          </a:p>
          <a:p>
            <a:r>
              <a:rPr lang="en-GB" sz="2400" b="1" dirty="0"/>
              <a:t>determiner -  noun combinations </a:t>
            </a:r>
            <a:r>
              <a:rPr lang="en-GB" sz="2400" dirty="0"/>
              <a:t>or </a:t>
            </a:r>
            <a:r>
              <a:rPr lang="en-GB" sz="2400" dirty="0" err="1"/>
              <a:t>wh</a:t>
            </a:r>
            <a:r>
              <a:rPr lang="en-GB" sz="2400" dirty="0"/>
              <a:t>-forms: </a:t>
            </a:r>
          </a:p>
          <a:p>
            <a:pPr lvl="1"/>
            <a:r>
              <a:rPr lang="en-GB" sz="2200" dirty="0"/>
              <a:t>anyhow</a:t>
            </a:r>
          </a:p>
          <a:p>
            <a:pPr lvl="1"/>
            <a:r>
              <a:rPr lang="en-GB" sz="2200" dirty="0"/>
              <a:t>somewhere</a:t>
            </a:r>
          </a:p>
          <a:p>
            <a:pPr lvl="1"/>
            <a:r>
              <a:rPr lang="en-GB" sz="2200" dirty="0"/>
              <a:t>nowhere </a:t>
            </a:r>
          </a:p>
          <a:p>
            <a:pPr lvl="1"/>
            <a:r>
              <a:rPr lang="en-GB" sz="2200" dirty="0"/>
              <a:t>sometimes </a:t>
            </a:r>
          </a:p>
          <a:p>
            <a:pPr lvl="1"/>
            <a:r>
              <a:rPr lang="en-GB" sz="2200" dirty="0"/>
              <a:t>anytime.</a:t>
            </a:r>
          </a:p>
          <a:p>
            <a:endParaRPr lang="en-GB" sz="2400" dirty="0"/>
          </a:p>
          <a:p>
            <a:endParaRPr lang="en-US" dirty="0"/>
          </a:p>
        </p:txBody>
      </p:sp>
    </p:spTree>
    <p:extLst>
      <p:ext uri="{BB962C8B-B14F-4D97-AF65-F5344CB8AC3E}">
        <p14:creationId xmlns:p14="http://schemas.microsoft.com/office/powerpoint/2010/main" val="918048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5400" b="1" dirty="0"/>
              <a:t>Compound verbs </a:t>
            </a:r>
            <a:endParaRPr lang="en-US" dirty="0"/>
          </a:p>
        </p:txBody>
      </p:sp>
      <p:sp>
        <p:nvSpPr>
          <p:cNvPr id="3" name="Content Placeholder 2"/>
          <p:cNvSpPr>
            <a:spLocks noGrp="1"/>
          </p:cNvSpPr>
          <p:nvPr>
            <p:ph idx="1"/>
          </p:nvPr>
        </p:nvSpPr>
        <p:spPr/>
        <p:txBody>
          <a:bodyPr/>
          <a:lstStyle/>
          <a:p>
            <a:r>
              <a:rPr lang="en-GB" sz="3200" b="1" dirty="0"/>
              <a:t>Prepositions -  verb combination:</a:t>
            </a:r>
            <a:r>
              <a:rPr lang="en-GB" sz="3200" dirty="0"/>
              <a:t> 	</a:t>
            </a:r>
          </a:p>
          <a:p>
            <a:pPr lvl="1"/>
            <a:r>
              <a:rPr lang="en-GB" sz="3000" dirty="0"/>
              <a:t>overreact, oversleep, overwork , undersell, undervalue, outvote</a:t>
            </a:r>
          </a:p>
          <a:p>
            <a:r>
              <a:rPr lang="en-GB" sz="3200" b="1" dirty="0"/>
              <a:t>Noun- verb combination: 		</a:t>
            </a:r>
          </a:p>
          <a:p>
            <a:pPr lvl="1"/>
            <a:r>
              <a:rPr lang="en-GB" sz="3000" dirty="0"/>
              <a:t>airlift, sunbathe </a:t>
            </a:r>
          </a:p>
          <a:p>
            <a:r>
              <a:rPr lang="en-GB" sz="3200" b="1" dirty="0"/>
              <a:t>Adjective-verb combination:</a:t>
            </a:r>
            <a:r>
              <a:rPr lang="en-GB" sz="3200" dirty="0"/>
              <a:t> 		</a:t>
            </a:r>
          </a:p>
          <a:p>
            <a:pPr lvl="1"/>
            <a:r>
              <a:rPr lang="en-GB" sz="3000" dirty="0"/>
              <a:t>shortlist, proofread </a:t>
            </a:r>
          </a:p>
          <a:p>
            <a:endParaRPr lang="en-US" dirty="0"/>
          </a:p>
        </p:txBody>
      </p:sp>
    </p:spTree>
    <p:extLst>
      <p:ext uri="{BB962C8B-B14F-4D97-AF65-F5344CB8AC3E}">
        <p14:creationId xmlns:p14="http://schemas.microsoft.com/office/powerpoint/2010/main" val="1819708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729</TotalTime>
  <Words>2291</Words>
  <Application>Microsoft Office PowerPoint</Application>
  <PresentationFormat>On-screen Show (4:3)</PresentationFormat>
  <Paragraphs>424</Paragraphs>
  <Slides>28</Slides>
  <Notes>24</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Flow</vt:lpstr>
      <vt:lpstr>WORD FORMATION </vt:lpstr>
      <vt:lpstr>Outline</vt:lpstr>
      <vt:lpstr>Word Constituents</vt:lpstr>
      <vt:lpstr>Words and their Constituents 1</vt:lpstr>
      <vt:lpstr>Words and their Constituents 2</vt:lpstr>
      <vt:lpstr>Words and their Constituents 3</vt:lpstr>
      <vt:lpstr>Syllable &amp;Morpheme: how many</vt:lpstr>
      <vt:lpstr>Common Methods of Word Formation </vt:lpstr>
      <vt:lpstr>Translingual borrowing</vt:lpstr>
      <vt:lpstr>Alphabetism </vt:lpstr>
      <vt:lpstr>Task on Alphabetism</vt:lpstr>
      <vt:lpstr>Acronymy</vt:lpstr>
      <vt:lpstr>Clipping and Blending</vt:lpstr>
      <vt:lpstr>Affixation</vt:lpstr>
      <vt:lpstr>Affixation</vt:lpstr>
      <vt:lpstr>Some noun forming prefixes</vt:lpstr>
      <vt:lpstr>Some noun forming suffixes</vt:lpstr>
      <vt:lpstr>Verb forming affixes</vt:lpstr>
      <vt:lpstr>Some verb forming prefixes</vt:lpstr>
      <vt:lpstr>Verb forming suffixes</vt:lpstr>
      <vt:lpstr>Some Adjective-forming suffixes </vt:lpstr>
      <vt:lpstr>Adjective-forming prefixes</vt:lpstr>
      <vt:lpstr>Some Adverb-forming suffixes </vt:lpstr>
      <vt:lpstr>Compounding </vt:lpstr>
      <vt:lpstr>Compound nouns</vt:lpstr>
      <vt:lpstr>Compound adjectives</vt:lpstr>
      <vt:lpstr>Compound adverbs </vt:lpstr>
      <vt:lpstr>Compound verbs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WORD FORMATION</dc:title>
  <dc:creator>Bode Sawe</dc:creator>
  <cp:lastModifiedBy>Omoreme Prosper</cp:lastModifiedBy>
  <cp:revision>71</cp:revision>
  <dcterms:created xsi:type="dcterms:W3CDTF">2008-12-15T13:03:16Z</dcterms:created>
  <dcterms:modified xsi:type="dcterms:W3CDTF">2026-02-16T08:21:53Z</dcterms:modified>
</cp:coreProperties>
</file>